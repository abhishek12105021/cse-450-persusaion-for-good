
<file path=[Content_Types].xml><?xml version="1.0" encoding="utf-8"?>
<Types xmlns="http://schemas.openxmlformats.org/package/2006/content-types">
  <Default Extension="bin" ContentType="image/unknown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42" d="100"/>
          <a:sy n="42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7476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it in 15 seconds, then go straight to the hook. The strand on the right is a dialogue: turns alternate between persuader (rose) and persuadee (lavender) and end in the outcome 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divider: part 1 of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report 1.1, 4.3.1, 2.3.3. A second example, dialogue #842: I will absolutely look to donating something later, with both donation fields at $0.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Rose = persuader, blue-violet = decider on every slide. Source: report 1.2.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report 1.3, Table 1.1, 2.1.7. Full Table 1.1 is backup.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out: here is how the three pieces fit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divider: part 2 of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 4.1, report p. 15. Walk the rows 3a, 3b, 3c, then the columns. A small copy of this map returns with the current row marked.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 4.3. Pass 1 pilot: 200 dialogues split five ways (50 per annotator) for calibration, then about 200 per member. Source: 4.3.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rule: if an early hesitation was cleanly resolved into an unconditional yes by the end, the dialogue reverted to yes. Source: 4.3.2-4.3.3.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 4.2. Annotation ran in four segments under human checkpoints; no turn was labelled twice. Source: 4.2.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4.2.2.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 5.1a and 5.1b redrawn from Table 4.2 and 4.2.3 values. Mean 1.679 labels per turn (sd 1.061). Source: 4.2.3, 5.2.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 E, Table E.1. The top strategy covers 27% of turns; six strategies have 14 turns or fewer. This is why the model pivots to categories. Source: Appendix 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 5.2 redrawn; series values read from the report plot. Rater effect: Track A averaged 2.38 labels per turn, Track C 1.24. Source: 4.2.3-4.2.4, 5.2.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 4.4 poster version. Source: 4.4.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early 250/250 split with six classes is outdated; frozen files have 262/238 and 4 classes. Source: 4.4.3.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divider: part 3 of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 4.8, the key design slide. Source: 4.7.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Bars start at 0.60. Source: 4.7.1-4.7.4.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 4.6 poster 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 crop from Fig 4.7. Each Persuadee turn pulls in the arguments it is responding to. A residual connection keeps the Persuadee stream, then LayerNorm. 4 heads.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 4.7. A marks cross-attention, B marks GRU plus pooling. Source: 4.6.1.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4.8, 4.11.2.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 4.5 poster version. Source: 4.5.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 5.9, cross-validated. Bars start at 0.50. These are validation macro-F1, not test. Source: 4.5.3, 5.4.3.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divider: part 4 of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 5.6. 0.8623 is DeBERTa at default threshold; tuned 0.8600. Final model RoBERTa 0.8446 on Pass 3. No significance test was run for v13 vs v14. Source: Tables 5.2-5.6.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0.706 / 0.564 is the best measured point (v17, bagged pool). 0.695 / 0.560 is the shipped v18 blend on the system diagram. Bootstrap 95% CIs overlap: [0.533, 0.589] and [0.534, 0.581]. Source: 5.4, Tables 5.7-5.9.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 5.10: flat RoBERTa with four input ablations. Reversal subset: the 200 reversal dialogues alone, test n = 30. Stance flip error rate exactly 0% (0/20). Source: 5.5.1.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 5.12 with Fig 5.4a/b. On N=700 (test n=105) Antiphony DeBERTa and TOD-BERT both reach 0.9619; RoBERTa 0.9524. The last-turn control degrades by 0.0497. Source: 5.5.2-5.5.3, Table 5.11.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 5.7 redrawn with the reported range. Protected arm calibrates thresholds between 0.10 and 0.30; unprotected uses a fixed 0.50. Both stayed between 0.9333 and 0.9733. Source: 5.6.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 5.8 redrawn with report values. 152 of 500 dialogues exceeded 512 tokens; right-truncation cut their decision turn. Necessity gap 0.1600 shrank to 0.0402. Source: 5.7.1.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demo. Havn is an observer only; it never replies.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divider: part 5 of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Technical deviations only. Source: 5.9.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7.1.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Q&amp;A. Scan to open the live demos: Persuasion (donation intent and strategy) and Buyer-Seller (negotiation intent).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bin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bin"/><Relationship Id="rId4" Type="http://schemas.openxmlformats.org/officeDocument/2006/relationships/image" Target="../media/image20.bin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5C5C99">
                  <a:alpha val="55000"/>
                </a:srgbClr>
              </a:gs>
              <a:gs pos="70000">
                <a:srgbClr val="5C5C99">
                  <a:alpha val="0"/>
                </a:srgbClr>
              </a:gs>
            </a:gsLst>
            <a:path path="circle">
              <a:fillToRect l="88000" t="12000" r="12000" b="88000"/>
            </a:path>
          </a:gra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97150" y="381000"/>
            <a:ext cx="1371600" cy="6781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921740" y="1143000"/>
            <a:ext cx="1659636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144" dirty="0">
                <a:solidFill>
                  <a:srgbClr val="FF90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PERSUADER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3933527" y="1630680"/>
            <a:ext cx="164667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144" dirty="0">
                <a:solidFill>
                  <a:srgbClr val="CC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PERSUADEE</a:t>
            </a:r>
            <a:endParaRPr lang="en-US" sz="18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" y="800100"/>
            <a:ext cx="1181100" cy="11709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495550" y="958334"/>
            <a:ext cx="7121033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Computer Science and Engineering</a:t>
            </a:r>
            <a:endParaRPr lang="en-US" sz="2100" dirty="0"/>
          </a:p>
        </p:txBody>
      </p:sp>
      <p:sp>
        <p:nvSpPr>
          <p:cNvPr id="8" name="Text 4"/>
          <p:cNvSpPr/>
          <p:nvPr/>
        </p:nvSpPr>
        <p:spPr>
          <a:xfrm>
            <a:off x="2495550" y="1428869"/>
            <a:ext cx="7121033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149"/>
              </a:lnSpc>
              <a:buNone/>
            </a:pPr>
            <a:r>
              <a:rPr lang="en-US" sz="1950" dirty="0">
                <a:solidFill>
                  <a:srgbClr val="CC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Bangladesh University of Engineering and Technology</a:t>
            </a:r>
            <a:endParaRPr lang="en-US" sz="1950" dirty="0"/>
          </a:p>
        </p:txBody>
      </p:sp>
      <p:sp>
        <p:nvSpPr>
          <p:cNvPr id="9" name="Shape 5"/>
          <p:cNvSpPr/>
          <p:nvPr/>
        </p:nvSpPr>
        <p:spPr>
          <a:xfrm>
            <a:off x="1047750" y="3005971"/>
            <a:ext cx="533400" cy="28575"/>
          </a:xfrm>
          <a:prstGeom prst="rect">
            <a:avLst/>
          </a:prstGeom>
          <a:solidFill>
            <a:srgbClr val="CCC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1752600" y="2828330"/>
            <a:ext cx="6853202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149"/>
              </a:lnSpc>
              <a:buNone/>
            </a:pPr>
            <a:r>
              <a:rPr lang="en-US" sz="1950" kern="0" spc="234" dirty="0">
                <a:solidFill>
                  <a:srgbClr val="CC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 450 CAPSTONE · FINAL PRESENTATION</a:t>
            </a:r>
            <a:endParaRPr lang="en-US" sz="1950" dirty="0"/>
          </a:p>
        </p:txBody>
      </p:sp>
      <p:sp>
        <p:nvSpPr>
          <p:cNvPr id="11" name="Text 7"/>
          <p:cNvSpPr/>
          <p:nvPr/>
        </p:nvSpPr>
        <p:spPr>
          <a:xfrm>
            <a:off x="1047750" y="3478887"/>
            <a:ext cx="17811750" cy="2028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2674"/>
              </a:lnSpc>
              <a:buNone/>
            </a:pPr>
            <a:r>
              <a:rPr lang="en-US" sz="16500" b="1" kern="0" spc="-41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Antiphony</a:t>
            </a:r>
            <a:endParaRPr lang="en-US" sz="16500" dirty="0"/>
          </a:p>
        </p:txBody>
      </p:sp>
      <p:sp>
        <p:nvSpPr>
          <p:cNvPr id="12" name="Text 8"/>
          <p:cNvSpPr/>
          <p:nvPr/>
        </p:nvSpPr>
        <p:spPr>
          <a:xfrm>
            <a:off x="1047750" y="5793462"/>
            <a:ext cx="10595610" cy="1135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348"/>
              </a:lnSpc>
              <a:buNone/>
            </a:pPr>
            <a:r>
              <a:rPr lang="en-US" sz="3600" dirty="0">
                <a:solidFill>
                  <a:srgbClr val="CC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Dual-perspective modeling of persuasion and commitment in asymmetric dialogue</a:t>
            </a:r>
            <a:endParaRPr lang="en-US" sz="3600" dirty="0"/>
          </a:p>
        </p:txBody>
      </p:sp>
      <p:sp>
        <p:nvSpPr>
          <p:cNvPr id="13" name="Text 9"/>
          <p:cNvSpPr/>
          <p:nvPr/>
        </p:nvSpPr>
        <p:spPr>
          <a:xfrm>
            <a:off x="1047750" y="7946707"/>
            <a:ext cx="2247817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180" dirty="0">
                <a:solidFill>
                  <a:srgbClr val="A3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 BY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262670" y="7900988"/>
            <a:ext cx="4187071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Md. Shariful Islam Bhuyan</a:t>
            </a:r>
            <a:endParaRPr lang="en-US" sz="2100" dirty="0"/>
          </a:p>
        </p:txBody>
      </p:sp>
      <p:sp>
        <p:nvSpPr>
          <p:cNvPr id="15" name="Text 11"/>
          <p:cNvSpPr/>
          <p:nvPr/>
        </p:nvSpPr>
        <p:spPr>
          <a:xfrm>
            <a:off x="7240548" y="7900988"/>
            <a:ext cx="4471928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A3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Associate Professor, CSE, BUET</a:t>
            </a:r>
            <a:endParaRPr lang="en-US" sz="2100" dirty="0"/>
          </a:p>
        </p:txBody>
      </p:sp>
      <p:sp>
        <p:nvSpPr>
          <p:cNvPr id="16" name="Shape 12"/>
          <p:cNvSpPr/>
          <p:nvPr/>
        </p:nvSpPr>
        <p:spPr>
          <a:xfrm>
            <a:off x="1047750" y="8523923"/>
            <a:ext cx="2045851" cy="1096327"/>
          </a:xfrm>
          <a:prstGeom prst="roundRect">
            <a:avLst>
              <a:gd name="adj" fmla="val 3475"/>
            </a:avLst>
          </a:prstGeom>
          <a:solidFill>
            <a:srgbClr val="CCCCFF">
              <a:alpha val="8000"/>
            </a:srgbClr>
          </a:solidFill>
          <a:ln w="7620">
            <a:solidFill>
              <a:srgbClr val="CCCC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1264920" y="8683943"/>
            <a:ext cx="1772662" cy="42195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36149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Arnob Biswas</a:t>
            </a:r>
            <a:endParaRPr lang="en-US" sz="1950" dirty="0"/>
          </a:p>
        </p:txBody>
      </p:sp>
      <p:sp>
        <p:nvSpPr>
          <p:cNvPr id="18" name="Text 14"/>
          <p:cNvSpPr/>
          <p:nvPr/>
        </p:nvSpPr>
        <p:spPr>
          <a:xfrm>
            <a:off x="1264920" y="9105900"/>
            <a:ext cx="1772662" cy="39243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A3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2105015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3246001" y="8523923"/>
            <a:ext cx="2883694" cy="1096327"/>
          </a:xfrm>
          <a:prstGeom prst="roundRect">
            <a:avLst>
              <a:gd name="adj" fmla="val 3475"/>
            </a:avLst>
          </a:prstGeom>
          <a:solidFill>
            <a:srgbClr val="CCCCFF">
              <a:alpha val="8000"/>
            </a:srgbClr>
          </a:solidFill>
          <a:ln w="7620">
            <a:solidFill>
              <a:srgbClr val="CCCC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3463171" y="8683943"/>
            <a:ext cx="2694289" cy="42195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36149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Nawriz Ahmed Turjo</a:t>
            </a:r>
            <a:endParaRPr lang="en-US" sz="1950" dirty="0"/>
          </a:p>
        </p:txBody>
      </p:sp>
      <p:sp>
        <p:nvSpPr>
          <p:cNvPr id="21" name="Text 17"/>
          <p:cNvSpPr/>
          <p:nvPr/>
        </p:nvSpPr>
        <p:spPr>
          <a:xfrm>
            <a:off x="3463171" y="9105900"/>
            <a:ext cx="2694289" cy="39243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A3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2105032</a:t>
            </a:r>
            <a:endParaRPr lang="en-US" sz="1800" dirty="0"/>
          </a:p>
        </p:txBody>
      </p:sp>
      <p:sp>
        <p:nvSpPr>
          <p:cNvPr id="22" name="Shape 18"/>
          <p:cNvSpPr/>
          <p:nvPr/>
        </p:nvSpPr>
        <p:spPr>
          <a:xfrm>
            <a:off x="6282095" y="8523923"/>
            <a:ext cx="2064187" cy="1096327"/>
          </a:xfrm>
          <a:prstGeom prst="roundRect">
            <a:avLst>
              <a:gd name="adj" fmla="val 3475"/>
            </a:avLst>
          </a:prstGeom>
          <a:solidFill>
            <a:srgbClr val="CCCCFF">
              <a:alpha val="8000"/>
            </a:srgbClr>
          </a:solidFill>
          <a:ln w="7620">
            <a:solidFill>
              <a:srgbClr val="CCCC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6499265" y="8683943"/>
            <a:ext cx="1792831" cy="42195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36149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Abhishek Roy</a:t>
            </a:r>
            <a:endParaRPr lang="en-US" sz="1950" dirty="0"/>
          </a:p>
        </p:txBody>
      </p:sp>
      <p:sp>
        <p:nvSpPr>
          <p:cNvPr id="24" name="Text 20"/>
          <p:cNvSpPr/>
          <p:nvPr/>
        </p:nvSpPr>
        <p:spPr>
          <a:xfrm>
            <a:off x="6499265" y="9105900"/>
            <a:ext cx="1792831" cy="39243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A3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2105033</a:t>
            </a:r>
            <a:endParaRPr lang="en-US" sz="1800" dirty="0"/>
          </a:p>
        </p:txBody>
      </p:sp>
      <p:sp>
        <p:nvSpPr>
          <p:cNvPr id="25" name="Shape 21"/>
          <p:cNvSpPr/>
          <p:nvPr/>
        </p:nvSpPr>
        <p:spPr>
          <a:xfrm>
            <a:off x="8498681" y="8523923"/>
            <a:ext cx="2996803" cy="1096327"/>
          </a:xfrm>
          <a:prstGeom prst="roundRect">
            <a:avLst>
              <a:gd name="adj" fmla="val 3475"/>
            </a:avLst>
          </a:prstGeom>
          <a:solidFill>
            <a:srgbClr val="CCCCFF">
              <a:alpha val="8000"/>
            </a:srgbClr>
          </a:solidFill>
          <a:ln w="7620">
            <a:solidFill>
              <a:srgbClr val="CCCC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8715851" y="8683943"/>
            <a:ext cx="2818709" cy="42195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36149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Monjur Hossain Khan</a:t>
            </a:r>
            <a:endParaRPr lang="en-US" sz="1950" dirty="0"/>
          </a:p>
        </p:txBody>
      </p:sp>
      <p:sp>
        <p:nvSpPr>
          <p:cNvPr id="27" name="Text 23"/>
          <p:cNvSpPr/>
          <p:nvPr/>
        </p:nvSpPr>
        <p:spPr>
          <a:xfrm>
            <a:off x="8715851" y="9105900"/>
            <a:ext cx="2818709" cy="39243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A3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2105043</a:t>
            </a:r>
            <a:endParaRPr lang="en-US" sz="1800" dirty="0"/>
          </a:p>
        </p:txBody>
      </p:sp>
      <p:sp>
        <p:nvSpPr>
          <p:cNvPr id="28" name="Shape 24"/>
          <p:cNvSpPr/>
          <p:nvPr/>
        </p:nvSpPr>
        <p:spPr>
          <a:xfrm>
            <a:off x="11647884" y="8523923"/>
            <a:ext cx="3249454" cy="1096327"/>
          </a:xfrm>
          <a:prstGeom prst="roundRect">
            <a:avLst>
              <a:gd name="adj" fmla="val 3475"/>
            </a:avLst>
          </a:prstGeom>
          <a:solidFill>
            <a:srgbClr val="CCCCFF">
              <a:alpha val="8000"/>
            </a:srgbClr>
          </a:solidFill>
          <a:ln w="7620">
            <a:solidFill>
              <a:srgbClr val="CCCC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11865055" y="8683943"/>
            <a:ext cx="3096625" cy="42195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36149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Shams Hossain Simanto</a:t>
            </a:r>
            <a:endParaRPr lang="en-US" sz="1950" dirty="0"/>
          </a:p>
        </p:txBody>
      </p:sp>
      <p:sp>
        <p:nvSpPr>
          <p:cNvPr id="30" name="Text 26"/>
          <p:cNvSpPr/>
          <p:nvPr/>
        </p:nvSpPr>
        <p:spPr>
          <a:xfrm>
            <a:off x="11865055" y="9105900"/>
            <a:ext cx="3096625" cy="39243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A3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2105048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C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5C5C99">
                  <a:alpha val="55000"/>
                </a:srgbClr>
              </a:gs>
              <a:gs pos="70000">
                <a:srgbClr val="5C5C99">
                  <a:alpha val="0"/>
                </a:srgbClr>
              </a:gs>
            </a:gsLst>
            <a:path path="circle">
              <a:fillToRect l="88000" t="12000" r="12000" b="88000"/>
            </a:path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47750" y="2633663"/>
            <a:ext cx="533400" cy="28575"/>
          </a:xfrm>
          <a:prstGeom prst="rect">
            <a:avLst/>
          </a:prstGeom>
          <a:solidFill>
            <a:srgbClr val="CCC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752600" y="2456021"/>
            <a:ext cx="1889224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149"/>
              </a:lnSpc>
              <a:buNone/>
            </a:pPr>
            <a:r>
              <a:rPr lang="en-US" sz="1950" kern="0" spc="234" dirty="0">
                <a:solidFill>
                  <a:srgbClr val="CC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OF 5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047750" y="3163729"/>
            <a:ext cx="12363450" cy="1257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957"/>
              </a:lnSpc>
              <a:buNone/>
            </a:pPr>
            <a:r>
              <a:rPr lang="en-US" sz="9600" b="1" kern="0" spc="-19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9600" dirty="0"/>
          </a:p>
        </p:txBody>
      </p:sp>
      <p:sp>
        <p:nvSpPr>
          <p:cNvPr id="6" name="Shape 4"/>
          <p:cNvSpPr/>
          <p:nvPr/>
        </p:nvSpPr>
        <p:spPr>
          <a:xfrm>
            <a:off x="1047750" y="5684996"/>
            <a:ext cx="8572500" cy="9525"/>
          </a:xfrm>
          <a:prstGeom prst="rect">
            <a:avLst/>
          </a:prstGeom>
          <a:solidFill>
            <a:srgbClr val="CCCCFF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47750" y="5110639"/>
            <a:ext cx="685800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A3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885950" y="5049679"/>
            <a:ext cx="6489240" cy="540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24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label disagrees with the transcript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1047750" y="6461284"/>
            <a:ext cx="8572500" cy="9525"/>
          </a:xfrm>
          <a:prstGeom prst="rect">
            <a:avLst/>
          </a:prstGeom>
          <a:solidFill>
            <a:srgbClr val="CCCCFF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47750" y="5886926"/>
            <a:ext cx="685800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A3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885950" y="5825966"/>
            <a:ext cx="3220783" cy="540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24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1047750" y="7237571"/>
            <a:ext cx="8572500" cy="9525"/>
          </a:xfrm>
          <a:prstGeom prst="rect">
            <a:avLst/>
          </a:prstGeom>
          <a:solidFill>
            <a:srgbClr val="CCCCFF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47750" y="6663214"/>
            <a:ext cx="685800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A3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885950" y="6602254"/>
            <a:ext cx="2231577" cy="540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24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it’s hard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1047750" y="8013859"/>
            <a:ext cx="8572500" cy="9525"/>
          </a:xfrm>
          <a:prstGeom prst="rect">
            <a:avLst/>
          </a:prstGeom>
          <a:solidFill>
            <a:srgbClr val="CCCCFF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47750" y="7439501"/>
            <a:ext cx="685800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A3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885950" y="7378541"/>
            <a:ext cx="2362938" cy="540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24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</a:t>
            </a:r>
            <a:endParaRPr lang="en-US" sz="255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049250" y="933450"/>
            <a:ext cx="4000500" cy="8610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047750" y="1097280"/>
            <a:ext cx="1519237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930"/>
              </a:lnSpc>
              <a:buNone/>
            </a:pPr>
            <a:r>
              <a:rPr lang="en-US" sz="4500" b="1" kern="0" spc="-67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Label Disagrees with the Transcript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2202180"/>
            <a:ext cx="8191500" cy="5791200"/>
          </a:xfrm>
          <a:prstGeom prst="roundRect">
            <a:avLst>
              <a:gd name="adj" fmla="val 658"/>
            </a:avLst>
          </a:prstGeom>
          <a:solidFill>
            <a:srgbClr val="FFFFFF"/>
          </a:solidFill>
          <a:ln/>
          <a:effectLst>
            <a:outerShdw blurRad="133350" dist="28575" dir="5400000" algn="bl" rotWithShape="0">
              <a:srgbClr val="292966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428750" y="2545080"/>
            <a:ext cx="2775228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144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P4G DIALOGUE #124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52279" y="2545080"/>
            <a:ext cx="3306568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144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PERSUASION FOR GOOD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28750" y="3108960"/>
            <a:ext cx="117860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AA0B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Persuader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428750" y="3539490"/>
            <a:ext cx="6096000" cy="1234440"/>
          </a:xfrm>
          <a:prstGeom prst="roundRect">
            <a:avLst>
              <a:gd name="adj" fmla="val 3086"/>
            </a:avLst>
          </a:prstGeom>
          <a:solidFill>
            <a:srgbClr val="FFDE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657350" y="3710940"/>
            <a:ext cx="5821680" cy="929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7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“We have you down for a $10 donation. Is that correct?”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7738229" y="4983480"/>
            <a:ext cx="1196221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Persuadee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5325" y="5414010"/>
            <a:ext cx="2452926" cy="788670"/>
          </a:xfrm>
          <a:prstGeom prst="roundRect">
            <a:avLst>
              <a:gd name="adj" fmla="val 4831"/>
            </a:avLst>
          </a:prstGeom>
          <a:solidFill>
            <a:srgbClr val="CCC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633925" y="5585460"/>
            <a:ext cx="2071926" cy="48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7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“Yes that is.”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1428750" y="7178040"/>
            <a:ext cx="3344418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Recorded donation field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594045" y="6507480"/>
            <a:ext cx="1390626" cy="11811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705"/>
              </a:lnSpc>
              <a:buNone/>
            </a:pPr>
            <a:r>
              <a:rPr lang="en-US" sz="9000" b="1" dirty="0">
                <a:solidFill>
                  <a:srgbClr val="AA0B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9000" dirty="0"/>
          </a:p>
        </p:txBody>
      </p:sp>
      <p:sp>
        <p:nvSpPr>
          <p:cNvPr id="15" name="Text 13"/>
          <p:cNvSpPr/>
          <p:nvPr/>
        </p:nvSpPr>
        <p:spPr>
          <a:xfrm>
            <a:off x="10096500" y="2297430"/>
            <a:ext cx="7858125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9118"/>
              </a:lnSpc>
              <a:buNone/>
            </a:pPr>
            <a:r>
              <a:rPr lang="en-US" sz="1800" kern="0" spc="144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096500" y="2853690"/>
            <a:ext cx="7358063" cy="1272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Bangladeshi social commerce, sales happen inside chats (Messenger, WhatsApp). Pathao needed two things: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0096500" y="4335780"/>
            <a:ext cx="609600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733"/>
              </a:lnSpc>
              <a:buNone/>
            </a:pPr>
            <a:r>
              <a:rPr lang="en-US" sz="225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0725150" y="4335780"/>
            <a:ext cx="6092405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Triage of high-intent leads in real time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0096500" y="4994910"/>
            <a:ext cx="609600" cy="861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733"/>
              </a:lnSpc>
              <a:buNone/>
            </a:pPr>
            <a:r>
              <a:rPr lang="en-US" sz="225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0725150" y="4994910"/>
            <a:ext cx="6710553" cy="861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 model that runs on their own servers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0096500" y="6065520"/>
            <a:ext cx="7858125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9118"/>
              </a:lnSpc>
              <a:buNone/>
            </a:pPr>
            <a:r>
              <a:rPr lang="en-US" sz="1800" kern="0" spc="144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ONE-OFF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096500" y="6621780"/>
            <a:ext cx="7358063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733"/>
              </a:lnSpc>
              <a:buNone/>
            </a:pPr>
            <a:r>
              <a:rPr lang="en-US" sz="22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Dialogue #842: “I will absolutely look to donating something later.” Both donation fields show $0.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1047750" y="8469630"/>
            <a:ext cx="15697200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069"/>
              </a:lnSpc>
              <a:buNone/>
            </a:pPr>
            <a:r>
              <a:rPr lang="en-US" sz="3000" i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“You cannot learn commitment from a label that’s wrong, or from a model that never reads the end of the chat.”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14931748" y="9627870"/>
            <a:ext cx="2539353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Antiphony · Group 10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047750" y="1097280"/>
            <a:ext cx="1519237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930"/>
              </a:lnSpc>
              <a:buNone/>
            </a:pPr>
            <a:r>
              <a:rPr lang="en-US" sz="4500" b="1" kern="0" spc="-67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Statement: Three Sub-Problems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2259330"/>
            <a:ext cx="3429000" cy="1466850"/>
          </a:xfrm>
          <a:prstGeom prst="roundRect">
            <a:avLst>
              <a:gd name="adj" fmla="val 2597"/>
            </a:avLst>
          </a:prstGeom>
          <a:solidFill>
            <a:srgbClr val="FFDEE6"/>
          </a:solidFill>
          <a:ln w="22860">
            <a:solidFill>
              <a:srgbClr val="AA0B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318260" y="2491740"/>
            <a:ext cx="3176778" cy="599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864"/>
              </a:lnSpc>
              <a:buNone/>
            </a:pPr>
            <a:r>
              <a:rPr lang="en-US" sz="285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Persuader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318260" y="3109913"/>
            <a:ext cx="3176778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149"/>
              </a:lnSpc>
              <a:buNone/>
            </a:pPr>
            <a:r>
              <a:rPr lang="en-US" sz="19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argues, makes offers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4762500" y="2567940"/>
            <a:ext cx="659368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856797" y="2960370"/>
            <a:ext cx="47077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957"/>
              </a:lnSpc>
              <a:buNone/>
            </a:pPr>
            <a:r>
              <a:rPr lang="en-US" sz="360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5631418" y="2259330"/>
            <a:ext cx="3429000" cy="1466850"/>
          </a:xfrm>
          <a:prstGeom prst="roundRect">
            <a:avLst>
              <a:gd name="adj" fmla="val 2597"/>
            </a:avLst>
          </a:prstGeom>
          <a:solidFill>
            <a:srgbClr val="CCCCFF"/>
          </a:solidFill>
          <a:ln w="22860">
            <a:solidFill>
              <a:srgbClr val="5C5C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01928" y="2491740"/>
            <a:ext cx="3176778" cy="599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864"/>
              </a:lnSpc>
              <a:buNone/>
            </a:pPr>
            <a:r>
              <a:rPr lang="en-US" sz="285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Persuadee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5901928" y="3109913"/>
            <a:ext cx="3176778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149"/>
              </a:lnSpc>
              <a:buNone/>
            </a:pPr>
            <a:r>
              <a:rPr lang="en-US" sz="19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weighs, decides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346168" y="2567940"/>
            <a:ext cx="868085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ends in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544764" y="2960370"/>
            <a:ext cx="47077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957"/>
              </a:lnSpc>
              <a:buNone/>
            </a:pPr>
            <a:r>
              <a:rPr lang="en-US" sz="360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10423803" y="2259330"/>
            <a:ext cx="3429000" cy="1466850"/>
          </a:xfrm>
          <a:prstGeom prst="roundRect">
            <a:avLst>
              <a:gd name="adj" fmla="val 2597"/>
            </a:avLst>
          </a:prstGeom>
          <a:solidFill>
            <a:srgbClr val="292966"/>
          </a:solidFill>
          <a:ln w="22860">
            <a:solidFill>
              <a:srgbClr val="2929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694314" y="2491740"/>
            <a:ext cx="3176778" cy="599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864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2850" dirty="0"/>
          </a:p>
        </p:txBody>
      </p:sp>
      <p:sp>
        <p:nvSpPr>
          <p:cNvPr id="16" name="Text 14"/>
          <p:cNvSpPr/>
          <p:nvPr/>
        </p:nvSpPr>
        <p:spPr>
          <a:xfrm>
            <a:off x="10694314" y="3109913"/>
            <a:ext cx="3176778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149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commit: yes / no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047750" y="4488180"/>
            <a:ext cx="5378363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144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SP1 · INTENTION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47750" y="4994910"/>
            <a:ext cx="5378363" cy="6877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203"/>
              </a:lnSpc>
              <a:buNone/>
            </a:pPr>
            <a:r>
              <a:rPr lang="en-US" sz="330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Intention</a:t>
            </a:r>
            <a:endParaRPr lang="en-US" sz="3300" dirty="0"/>
          </a:p>
        </p:txBody>
      </p:sp>
      <p:sp>
        <p:nvSpPr>
          <p:cNvPr id="19" name="Text 17"/>
          <p:cNvSpPr/>
          <p:nvPr/>
        </p:nvSpPr>
        <p:spPr>
          <a:xfrm>
            <a:off x="1047750" y="5796915"/>
            <a:ext cx="5036103" cy="85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733"/>
              </a:lnSpc>
              <a:buNone/>
            </a:pPr>
            <a:r>
              <a:rPr lang="en-US" sz="22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 dialogue D = (u</a:t>
            </a:r>
            <a:r>
              <a:rPr lang="en-US" sz="1875" baseline="-400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</a:t>
            </a:r>
            <a:r>
              <a:rPr lang="en-US" sz="22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 u</a:t>
            </a:r>
            <a:r>
              <a:rPr lang="en-US" sz="1875" baseline="-400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</a:t>
            </a:r>
            <a:r>
              <a:rPr lang="en-US" sz="22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predict commitment y ∈ {yes, no}.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047750" y="6767036"/>
            <a:ext cx="5036103" cy="706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581"/>
              </a:lnSpc>
              <a:buNone/>
            </a:pPr>
            <a:r>
              <a:rPr lang="en-US" sz="195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label per dialogue, from the decider’s final position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6699171" y="4488180"/>
            <a:ext cx="5378494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144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SP2 · STRATEGY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699171" y="4994910"/>
            <a:ext cx="5378494" cy="6877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203"/>
              </a:lnSpc>
              <a:buNone/>
            </a:pPr>
            <a:r>
              <a:rPr lang="en-US" sz="330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3300" dirty="0"/>
          </a:p>
        </p:txBody>
      </p:sp>
      <p:sp>
        <p:nvSpPr>
          <p:cNvPr id="23" name="Text 21"/>
          <p:cNvSpPr/>
          <p:nvPr/>
        </p:nvSpPr>
        <p:spPr>
          <a:xfrm>
            <a:off x="6699171" y="5796915"/>
            <a:ext cx="5036226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733"/>
              </a:lnSpc>
              <a:buNone/>
            </a:pPr>
            <a:r>
              <a:rPr lang="en-US" sz="22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persuader turn, predict its strategy set.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6699171" y="6720840"/>
            <a:ext cx="5378494" cy="372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581"/>
              </a:lnSpc>
              <a:buNone/>
            </a:pPr>
            <a:r>
              <a:rPr lang="en-US" sz="195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categories, 41 strategies, multi-label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12350710" y="4488180"/>
            <a:ext cx="5378494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144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SP3 · TRANSFER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350710" y="4994910"/>
            <a:ext cx="5378494" cy="6877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203"/>
              </a:lnSpc>
              <a:buNone/>
            </a:pPr>
            <a:r>
              <a:rPr lang="en-US" sz="330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</a:t>
            </a:r>
            <a:endParaRPr lang="en-US" sz="3300" dirty="0"/>
          </a:p>
        </p:txBody>
      </p:sp>
      <p:sp>
        <p:nvSpPr>
          <p:cNvPr id="27" name="Text 25"/>
          <p:cNvSpPr/>
          <p:nvPr/>
        </p:nvSpPr>
        <p:spPr>
          <a:xfrm>
            <a:off x="12350710" y="5796915"/>
            <a:ext cx="5036226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733"/>
              </a:lnSpc>
              <a:buNone/>
            </a:pPr>
            <a:r>
              <a:rPr lang="en-US" sz="22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buyer–merchant negotiation, does the model follow the trajectory or just read the last line?</a:t>
            </a:r>
            <a:endParaRPr lang="en-US" sz="2250" dirty="0"/>
          </a:p>
        </p:txBody>
      </p:sp>
      <p:sp>
        <p:nvSpPr>
          <p:cNvPr id="28" name="Text 26"/>
          <p:cNvSpPr/>
          <p:nvPr/>
        </p:nvSpPr>
        <p:spPr>
          <a:xfrm>
            <a:off x="12350710" y="7106603"/>
            <a:ext cx="5036226" cy="761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581"/>
              </a:lnSpc>
              <a:buNone/>
            </a:pPr>
            <a:r>
              <a:rPr lang="en-US" sz="195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</a:t>
            </a:r>
            <a:r>
              <a:rPr lang="en-US" sz="1800" baseline="-4000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suff </a:t>
            </a:r>
            <a:r>
              <a:rPr lang="en-US" sz="195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Macro-F1(full dialogue) − Macro-F1(last turn)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14931748" y="9627870"/>
            <a:ext cx="2539353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Antiphony · Group 10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047750" y="1097280"/>
            <a:ext cx="1519237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930"/>
              </a:lnSpc>
              <a:buNone/>
            </a:pPr>
            <a:r>
              <a:rPr lang="en-US" sz="4500" b="1" kern="0" spc="-67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It’s Hard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2259330"/>
            <a:ext cx="398145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144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TRUNCATION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2747010"/>
            <a:ext cx="3981450" cy="1028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667"/>
              </a:lnSpc>
              <a:buNone/>
            </a:pPr>
            <a:r>
              <a:rPr lang="en-US" sz="780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0.70</a:t>
            </a:r>
            <a:endParaRPr lang="en-US" sz="7800" dirty="0"/>
          </a:p>
        </p:txBody>
      </p:sp>
      <p:sp>
        <p:nvSpPr>
          <p:cNvPr id="6" name="Text 4"/>
          <p:cNvSpPr/>
          <p:nvPr/>
        </p:nvSpPr>
        <p:spPr>
          <a:xfrm>
            <a:off x="1047750" y="3870960"/>
            <a:ext cx="3981450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149"/>
              </a:lnSpc>
              <a:buNone/>
            </a:pPr>
            <a:r>
              <a:rPr lang="en-US" sz="195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Macro-F1 cap for flat models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047750" y="4388168"/>
            <a:ext cx="3728085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733"/>
              </a:lnSpc>
              <a:buNone/>
            </a:pPr>
            <a:r>
              <a:rPr lang="en-US" sz="22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256-token models see only about the first half of a dialogue (median 344 words).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5238750" y="2259330"/>
            <a:ext cx="398145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144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SPEAKER BLUR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238750" y="2747010"/>
            <a:ext cx="3981450" cy="1028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667"/>
              </a:lnSpc>
              <a:buNone/>
            </a:pPr>
            <a:r>
              <a:rPr lang="en-US" sz="7800" b="1" dirty="0">
                <a:solidFill>
                  <a:srgbClr val="AA0B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→ 1</a:t>
            </a:r>
            <a:endParaRPr lang="en-US" sz="7800" dirty="0"/>
          </a:p>
        </p:txBody>
      </p:sp>
      <p:sp>
        <p:nvSpPr>
          <p:cNvPr id="10" name="Text 8"/>
          <p:cNvSpPr/>
          <p:nvPr/>
        </p:nvSpPr>
        <p:spPr>
          <a:xfrm>
            <a:off x="5238750" y="3870960"/>
            <a:ext cx="3728085" cy="805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149"/>
              </a:lnSpc>
              <a:buNone/>
            </a:pPr>
            <a:r>
              <a:rPr lang="en-US" sz="195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speakers flattened into one text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5238750" y="4772025"/>
            <a:ext cx="3728085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733"/>
              </a:lnSpc>
              <a:buNone/>
            </a:pPr>
            <a:r>
              <a:rPr lang="en-US" sz="22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has to rediscover who the decider is.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429750" y="2259330"/>
            <a:ext cx="398145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144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LONG TAIL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429750" y="2747010"/>
            <a:ext cx="3981450" cy="1028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667"/>
              </a:lnSpc>
              <a:buNone/>
            </a:pPr>
            <a:r>
              <a:rPr lang="en-US" sz="780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800" dirty="0"/>
          </a:p>
        </p:txBody>
      </p:sp>
      <p:sp>
        <p:nvSpPr>
          <p:cNvPr id="14" name="Text 12"/>
          <p:cNvSpPr/>
          <p:nvPr/>
        </p:nvSpPr>
        <p:spPr>
          <a:xfrm>
            <a:off x="9429750" y="3870960"/>
            <a:ext cx="3981450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149"/>
              </a:lnSpc>
              <a:buNone/>
            </a:pPr>
            <a:r>
              <a:rPr lang="en-US" sz="195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turns of door_in_the_face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429750" y="4388168"/>
            <a:ext cx="3728085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733"/>
              </a:lnSpc>
              <a:buNone/>
            </a:pPr>
            <a:r>
              <a:rPr lang="en-US" sz="22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has 13 examples; 48.9% of turns are multi-label.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3620750" y="2259330"/>
            <a:ext cx="398145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144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SHORTCUTS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620750" y="2747010"/>
            <a:ext cx="3728085" cy="1211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6250"/>
              </a:lnSpc>
              <a:buNone/>
            </a:pPr>
            <a:r>
              <a:rPr lang="en-US" sz="4200" b="1" dirty="0">
                <a:solidFill>
                  <a:srgbClr val="AA0B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“sounds good”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13620750" y="4053840"/>
            <a:ext cx="3981450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149"/>
              </a:lnSpc>
              <a:buNone/>
            </a:pPr>
            <a:r>
              <a:rPr lang="en-US" sz="195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closing line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3620750" y="4571047"/>
            <a:ext cx="3728085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733"/>
              </a:lnSpc>
              <a:buNone/>
            </a:pPr>
            <a:r>
              <a:rPr lang="en-US" sz="22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give the answer away without reading the dialogue.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047750" y="6350318"/>
            <a:ext cx="1781175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144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ENGINEERING PROBLEM · TABLE 1.1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47750" y="6857048"/>
            <a:ext cx="4060031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149"/>
              </a:lnSpc>
              <a:buNone/>
            </a:pPr>
            <a:r>
              <a:rPr lang="en-US" sz="195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· Depth of knowledge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47750" y="7298055"/>
            <a:ext cx="3801666" cy="929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4706"/>
              </a:lnSpc>
              <a:buNone/>
            </a:pPr>
            <a:r>
              <a:rPr lang="en-US" sz="180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design, hierarchical attention, recurrent state, calibrated ensembles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214938" y="6857048"/>
            <a:ext cx="4060031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149"/>
              </a:lnSpc>
              <a:buNone/>
            </a:pPr>
            <a:r>
              <a:rPr lang="en-US" sz="195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· Conflicting requirements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5214938" y="7298055"/>
            <a:ext cx="3801666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4706"/>
              </a:lnSpc>
              <a:buNone/>
            </a:pPr>
            <a:r>
              <a:rPr lang="en-US" sz="180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2,048-token dialogues against a 16 GB T4 memory ceiling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382125" y="6857048"/>
            <a:ext cx="4060031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149"/>
              </a:lnSpc>
              <a:buNone/>
            </a:pPr>
            <a:r>
              <a:rPr lang="en-US" sz="195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· Depth of analysis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9382125" y="7298055"/>
            <a:ext cx="3801666" cy="929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706"/>
              </a:lnSpc>
              <a:buNone/>
            </a:pPr>
            <a:r>
              <a:rPr lang="en-US" sz="180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Monolithic transformers failed; a new dual-stream network was needed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3549313" y="6857048"/>
            <a:ext cx="4060031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149"/>
              </a:lnSpc>
              <a:buNone/>
            </a:pPr>
            <a:r>
              <a:rPr lang="en-US" sz="195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 · Infrequent issues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13549313" y="7298055"/>
            <a:ext cx="3801666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4706"/>
              </a:lnSpc>
              <a:buNone/>
            </a:pPr>
            <a:r>
              <a:rPr lang="en-US" sz="180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to 5 instance tail classes; silent truncation of 30.4% of endings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47750" y="8341995"/>
            <a:ext cx="4060031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149"/>
              </a:lnSpc>
              <a:buNone/>
            </a:pPr>
            <a:r>
              <a:rPr lang="en-US" sz="195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 · No standard codes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1047750" y="8783003"/>
            <a:ext cx="3801666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4706"/>
              </a:lnSpc>
              <a:buNone/>
            </a:pPr>
            <a:r>
              <a:rPr lang="en-US" sz="180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decision tests and three-phase human verification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214938" y="8341995"/>
            <a:ext cx="4060031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149"/>
              </a:lnSpc>
              <a:buNone/>
            </a:pPr>
            <a:r>
              <a:rPr lang="en-US" sz="195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P6 · Stakeholders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5214938" y="8783003"/>
            <a:ext cx="3801666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4706"/>
              </a:lnSpc>
              <a:buNone/>
            </a:pPr>
            <a:r>
              <a:rPr lang="en-US" sz="180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Merchant conversion against consumer protection and privacy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382125" y="8341995"/>
            <a:ext cx="4060031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149"/>
              </a:lnSpc>
              <a:buNone/>
            </a:pPr>
            <a:r>
              <a:rPr lang="en-US" sz="195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P7 · Interdependence</a:t>
            </a:r>
            <a:endParaRPr lang="en-US" sz="1950" dirty="0"/>
          </a:p>
        </p:txBody>
      </p:sp>
      <p:sp>
        <p:nvSpPr>
          <p:cNvPr id="34" name="Text 32"/>
          <p:cNvSpPr/>
          <p:nvPr/>
        </p:nvSpPr>
        <p:spPr>
          <a:xfrm>
            <a:off x="9382125" y="8783003"/>
            <a:ext cx="3801666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4706"/>
              </a:lnSpc>
              <a:buNone/>
            </a:pPr>
            <a:r>
              <a:rPr lang="en-US" sz="180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3 labels forced retraining of the whole 14-model lineage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4931748" y="9627870"/>
            <a:ext cx="2539353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Antiphony · Group 10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047750" y="1097280"/>
            <a:ext cx="1519237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930"/>
              </a:lnSpc>
              <a:buNone/>
            </a:pPr>
            <a:r>
              <a:rPr lang="en-US" sz="4500" b="1" kern="0" spc="-67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2297430"/>
            <a:ext cx="5378363" cy="6877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203"/>
              </a:lnSpc>
              <a:buNone/>
            </a:pPr>
            <a:r>
              <a:rPr lang="en-US" sz="330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Intention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1047750" y="3137535"/>
            <a:ext cx="5036103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733"/>
              </a:lnSpc>
              <a:buNone/>
            </a:pPr>
            <a:r>
              <a:rPr lang="en-US" sz="22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P4G, 1,017 dialogues, re-annotated in 3 passes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887730" y="4063365"/>
            <a:ext cx="3634026" cy="1520190"/>
          </a:xfrm>
          <a:prstGeom prst="rect">
            <a:avLst/>
          </a:prstGeom>
          <a:solidFill>
            <a:srgbClr val="F5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47750" y="3903345"/>
            <a:ext cx="3645384" cy="1866900"/>
          </a:xfrm>
          <a:prstGeom prst="rect">
            <a:avLst/>
          </a:prstGeom>
          <a:noFill/>
          <a:ln/>
          <a:effectLst>
            <a:outerShdw blurRad="101600" dist="58446" dir="2100000" algn="bl" rotWithShape="0">
              <a:srgbClr val="F5F5FC">
                <a:alpha val="10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358"/>
              </a:lnSpc>
              <a:buNone/>
            </a:pPr>
            <a:r>
              <a:rPr lang="en-US" sz="10500" b="1" dirty="0">
                <a:solidFill>
                  <a:srgbClr val="F5F5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0.862</a:t>
            </a:r>
            <a:endParaRPr lang="en-US" sz="10500" dirty="0"/>
          </a:p>
        </p:txBody>
      </p:sp>
      <p:sp>
        <p:nvSpPr>
          <p:cNvPr id="8" name="Text 6"/>
          <p:cNvSpPr/>
          <p:nvPr/>
        </p:nvSpPr>
        <p:spPr>
          <a:xfrm>
            <a:off x="1047750" y="4223385"/>
            <a:ext cx="3645384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358"/>
              </a:lnSpc>
              <a:buNone/>
            </a:pPr>
            <a:r>
              <a:rPr lang="en-US" sz="10500" b="1" dirty="0">
                <a:solidFill>
                  <a:srgbClr val="A3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0.862</a:t>
            </a:r>
            <a:endParaRPr lang="en-US" sz="10500" dirty="0"/>
          </a:p>
        </p:txBody>
      </p:sp>
      <p:sp>
        <p:nvSpPr>
          <p:cNvPr id="9" name="Text 7"/>
          <p:cNvSpPr/>
          <p:nvPr/>
        </p:nvSpPr>
        <p:spPr>
          <a:xfrm>
            <a:off x="1117695" y="4240104"/>
            <a:ext cx="3645384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358"/>
              </a:lnSpc>
              <a:buNone/>
            </a:pPr>
            <a:r>
              <a:rPr lang="en-US" sz="10500" b="1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0.862</a:t>
            </a:r>
            <a:endParaRPr lang="en-US" sz="10500" dirty="0"/>
          </a:p>
        </p:txBody>
      </p:sp>
      <p:sp>
        <p:nvSpPr>
          <p:cNvPr id="10" name="Text 8"/>
          <p:cNvSpPr/>
          <p:nvPr/>
        </p:nvSpPr>
        <p:spPr>
          <a:xfrm>
            <a:off x="1028350" y="4176096"/>
            <a:ext cx="3645384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358"/>
              </a:lnSpc>
              <a:buNone/>
            </a:pPr>
            <a:r>
              <a:rPr lang="en-US" sz="10500" b="1" dirty="0">
                <a:solidFill>
                  <a:srgbClr val="CC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0.862</a:t>
            </a:r>
            <a:endParaRPr lang="en-US" sz="10500" dirty="0"/>
          </a:p>
        </p:txBody>
      </p:sp>
      <p:sp>
        <p:nvSpPr>
          <p:cNvPr id="11" name="Text 9"/>
          <p:cNvSpPr/>
          <p:nvPr/>
        </p:nvSpPr>
        <p:spPr>
          <a:xfrm>
            <a:off x="1047750" y="5614035"/>
            <a:ext cx="5036103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733"/>
              </a:lnSpc>
              <a:buNone/>
            </a:pPr>
            <a:r>
              <a:rPr lang="en-US" sz="22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Antiphony Macro-F1 · strict labels 0.845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047750" y="6576060"/>
            <a:ext cx="5036103" cy="706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581"/>
              </a:lnSpc>
              <a:buNone/>
            </a:pPr>
            <a:r>
              <a:rPr lang="en-US" sz="195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Strongest of the fourteen model versions we built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6699171" y="2297430"/>
            <a:ext cx="5378494" cy="6877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203"/>
              </a:lnSpc>
              <a:buNone/>
            </a:pPr>
            <a:r>
              <a:rPr lang="en-US" sz="330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6699171" y="3137535"/>
            <a:ext cx="5036226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733"/>
              </a:lnSpc>
              <a:buNone/>
            </a:pPr>
            <a:r>
              <a:rPr lang="en-US" sz="22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10,600 turns, 11 categories / 41 strategies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6539151" y="4063365"/>
            <a:ext cx="3578543" cy="1520190"/>
          </a:xfrm>
          <a:prstGeom prst="rect">
            <a:avLst/>
          </a:prstGeom>
          <a:solidFill>
            <a:srgbClr val="F5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699171" y="3903345"/>
            <a:ext cx="3584353" cy="1866900"/>
          </a:xfrm>
          <a:prstGeom prst="rect">
            <a:avLst/>
          </a:prstGeom>
          <a:noFill/>
          <a:ln/>
          <a:effectLst>
            <a:outerShdw blurRad="101600" dist="58446" dir="2100000" algn="bl" rotWithShape="0">
              <a:srgbClr val="F5F5FC">
                <a:alpha val="10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358"/>
              </a:lnSpc>
              <a:buNone/>
            </a:pPr>
            <a:r>
              <a:rPr lang="en-US" sz="10500" b="1" dirty="0">
                <a:solidFill>
                  <a:srgbClr val="F5F5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0.706</a:t>
            </a:r>
            <a:endParaRPr lang="en-US" sz="10500" dirty="0"/>
          </a:p>
        </p:txBody>
      </p:sp>
      <p:sp>
        <p:nvSpPr>
          <p:cNvPr id="17" name="Text 15"/>
          <p:cNvSpPr/>
          <p:nvPr/>
        </p:nvSpPr>
        <p:spPr>
          <a:xfrm>
            <a:off x="6699171" y="4223385"/>
            <a:ext cx="3584353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358"/>
              </a:lnSpc>
              <a:buNone/>
            </a:pPr>
            <a:r>
              <a:rPr lang="en-US" sz="10500" b="1" dirty="0">
                <a:solidFill>
                  <a:srgbClr val="A3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0.706</a:t>
            </a:r>
            <a:endParaRPr lang="en-US" sz="10500" dirty="0"/>
          </a:p>
        </p:txBody>
      </p:sp>
      <p:sp>
        <p:nvSpPr>
          <p:cNvPr id="18" name="Text 16"/>
          <p:cNvSpPr/>
          <p:nvPr/>
        </p:nvSpPr>
        <p:spPr>
          <a:xfrm>
            <a:off x="6769115" y="4240104"/>
            <a:ext cx="3584353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358"/>
              </a:lnSpc>
              <a:buNone/>
            </a:pPr>
            <a:r>
              <a:rPr lang="en-US" sz="10500" b="1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0.706</a:t>
            </a:r>
            <a:endParaRPr lang="en-US" sz="10500" dirty="0"/>
          </a:p>
        </p:txBody>
      </p:sp>
      <p:sp>
        <p:nvSpPr>
          <p:cNvPr id="19" name="Text 17"/>
          <p:cNvSpPr/>
          <p:nvPr/>
        </p:nvSpPr>
        <p:spPr>
          <a:xfrm>
            <a:off x="6679771" y="4176096"/>
            <a:ext cx="3584353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358"/>
              </a:lnSpc>
              <a:buNone/>
            </a:pPr>
            <a:r>
              <a:rPr lang="en-US" sz="10500" b="1" dirty="0">
                <a:solidFill>
                  <a:srgbClr val="CC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0.706</a:t>
            </a:r>
            <a:endParaRPr lang="en-US" sz="10500" dirty="0"/>
          </a:p>
        </p:txBody>
      </p:sp>
      <p:sp>
        <p:nvSpPr>
          <p:cNvPr id="20" name="Text 18"/>
          <p:cNvSpPr/>
          <p:nvPr/>
        </p:nvSpPr>
        <p:spPr>
          <a:xfrm>
            <a:off x="6699171" y="5614035"/>
            <a:ext cx="5036226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733"/>
              </a:lnSpc>
              <a:buNone/>
            </a:pPr>
            <a:r>
              <a:rPr lang="en-US" sz="22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micro-F1 = 89% of the 0.79 human ceiling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6699171" y="6576060"/>
            <a:ext cx="5036226" cy="706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581"/>
              </a:lnSpc>
              <a:buNone/>
            </a:pPr>
            <a:r>
              <a:rPr lang="en-US" sz="195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19-member ensemble with a calibrated blend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2350710" y="2297430"/>
            <a:ext cx="5378494" cy="6877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203"/>
              </a:lnSpc>
              <a:buNone/>
            </a:pPr>
            <a:r>
              <a:rPr lang="en-US" sz="330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</a:t>
            </a:r>
            <a:endParaRPr lang="en-US" sz="3300" dirty="0"/>
          </a:p>
        </p:txBody>
      </p:sp>
      <p:sp>
        <p:nvSpPr>
          <p:cNvPr id="23" name="Text 21"/>
          <p:cNvSpPr/>
          <p:nvPr/>
        </p:nvSpPr>
        <p:spPr>
          <a:xfrm>
            <a:off x="12350710" y="3137535"/>
            <a:ext cx="5036226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733"/>
              </a:lnSpc>
              <a:buNone/>
            </a:pPr>
            <a:r>
              <a:rPr lang="en-US" sz="22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700 synthetic negotiations (500 + 200 reversals)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12190691" y="4063365"/>
            <a:ext cx="5102543" cy="1520190"/>
          </a:xfrm>
          <a:prstGeom prst="rect">
            <a:avLst/>
          </a:prstGeom>
          <a:solidFill>
            <a:srgbClr val="F5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2350710" y="3903345"/>
            <a:ext cx="5260753" cy="1866900"/>
          </a:xfrm>
          <a:prstGeom prst="rect">
            <a:avLst/>
          </a:prstGeom>
          <a:noFill/>
          <a:ln/>
          <a:effectLst>
            <a:outerShdw blurRad="101600" dist="58446" dir="2100000" algn="bl" rotWithShape="0">
              <a:srgbClr val="F5F5FC">
                <a:alpha val="10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358"/>
              </a:lnSpc>
              <a:buNone/>
            </a:pPr>
            <a:r>
              <a:rPr lang="en-US" sz="10500" b="1" dirty="0">
                <a:solidFill>
                  <a:srgbClr val="F5F5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+0.0384</a:t>
            </a:r>
            <a:endParaRPr lang="en-US" sz="10500" dirty="0"/>
          </a:p>
        </p:txBody>
      </p:sp>
      <p:sp>
        <p:nvSpPr>
          <p:cNvPr id="26" name="Text 24"/>
          <p:cNvSpPr/>
          <p:nvPr/>
        </p:nvSpPr>
        <p:spPr>
          <a:xfrm>
            <a:off x="12350710" y="4223385"/>
            <a:ext cx="5260753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358"/>
              </a:lnSpc>
              <a:buNone/>
            </a:pPr>
            <a:r>
              <a:rPr lang="en-US" sz="10500" b="1" dirty="0">
                <a:solidFill>
                  <a:srgbClr val="A3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+0.0384</a:t>
            </a:r>
            <a:endParaRPr lang="en-US" sz="10500" dirty="0"/>
          </a:p>
        </p:txBody>
      </p:sp>
      <p:sp>
        <p:nvSpPr>
          <p:cNvPr id="27" name="Text 25"/>
          <p:cNvSpPr/>
          <p:nvPr/>
        </p:nvSpPr>
        <p:spPr>
          <a:xfrm>
            <a:off x="12420655" y="4240104"/>
            <a:ext cx="5260754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358"/>
              </a:lnSpc>
              <a:buNone/>
            </a:pPr>
            <a:r>
              <a:rPr lang="en-US" sz="10500" b="1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+0.0384</a:t>
            </a:r>
            <a:endParaRPr lang="en-US" sz="10500" dirty="0"/>
          </a:p>
        </p:txBody>
      </p:sp>
      <p:sp>
        <p:nvSpPr>
          <p:cNvPr id="28" name="Text 26"/>
          <p:cNvSpPr/>
          <p:nvPr/>
        </p:nvSpPr>
        <p:spPr>
          <a:xfrm>
            <a:off x="12331311" y="4176096"/>
            <a:ext cx="5260753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358"/>
              </a:lnSpc>
              <a:buNone/>
            </a:pPr>
            <a:r>
              <a:rPr lang="en-US" sz="10500" b="1" dirty="0">
                <a:solidFill>
                  <a:srgbClr val="CC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+0.0384</a:t>
            </a:r>
            <a:endParaRPr lang="en-US" sz="10500" dirty="0"/>
          </a:p>
        </p:txBody>
      </p:sp>
      <p:sp>
        <p:nvSpPr>
          <p:cNvPr id="29" name="Text 27"/>
          <p:cNvSpPr/>
          <p:nvPr/>
        </p:nvSpPr>
        <p:spPr>
          <a:xfrm>
            <a:off x="12350710" y="5614035"/>
            <a:ext cx="5378494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733"/>
              </a:lnSpc>
              <a:buNone/>
            </a:pPr>
            <a:r>
              <a:rPr lang="en-US" sz="22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</a:t>
            </a:r>
            <a:r>
              <a:rPr lang="en-US" sz="1800" baseline="-400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suff</a:t>
            </a:r>
            <a:r>
              <a:rPr lang="en-US" sz="22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up from +0.0001</a:t>
            </a:r>
            <a:endParaRPr lang="en-US" sz="2250" dirty="0"/>
          </a:p>
        </p:txBody>
      </p:sp>
      <p:sp>
        <p:nvSpPr>
          <p:cNvPr id="30" name="Text 28"/>
          <p:cNvSpPr/>
          <p:nvPr/>
        </p:nvSpPr>
        <p:spPr>
          <a:xfrm>
            <a:off x="12350710" y="6238875"/>
            <a:ext cx="5036226" cy="706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581"/>
              </a:lnSpc>
              <a:buNone/>
            </a:pPr>
            <a:r>
              <a:rPr lang="en-US" sz="195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Antiphony retrained on buyer–merchant chats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1047750" y="9023032"/>
            <a:ext cx="17811750" cy="540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240"/>
              </a:lnSpc>
              <a:buNone/>
            </a:pPr>
            <a:r>
              <a:rPr lang="en-US" sz="2550" i="1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how the three pieces fit together</a:t>
            </a:r>
            <a:endParaRPr lang="en-US" sz="2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C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5C5C99">
                  <a:alpha val="55000"/>
                </a:srgbClr>
              </a:gs>
              <a:gs pos="70000">
                <a:srgbClr val="5C5C99">
                  <a:alpha val="0"/>
                </a:srgbClr>
              </a:gs>
            </a:gsLst>
            <a:path path="circle">
              <a:fillToRect l="88000" t="12000" r="12000" b="88000"/>
            </a:path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47750" y="2245519"/>
            <a:ext cx="533400" cy="28575"/>
          </a:xfrm>
          <a:prstGeom prst="rect">
            <a:avLst/>
          </a:prstGeom>
          <a:solidFill>
            <a:srgbClr val="CCC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752600" y="2067878"/>
            <a:ext cx="1889224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149"/>
              </a:lnSpc>
              <a:buNone/>
            </a:pPr>
            <a:r>
              <a:rPr lang="en-US" sz="1950" kern="0" spc="234" dirty="0">
                <a:solidFill>
                  <a:srgbClr val="CC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OF 5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047750" y="2775585"/>
            <a:ext cx="12363450" cy="1257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957"/>
              </a:lnSpc>
              <a:buNone/>
            </a:pPr>
            <a:r>
              <a:rPr lang="en-US" sz="9600" b="1" kern="0" spc="-19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and Data</a:t>
            </a:r>
            <a:endParaRPr lang="en-US" sz="9600" dirty="0"/>
          </a:p>
        </p:txBody>
      </p:sp>
      <p:sp>
        <p:nvSpPr>
          <p:cNvPr id="6" name="Shape 4"/>
          <p:cNvSpPr/>
          <p:nvPr/>
        </p:nvSpPr>
        <p:spPr>
          <a:xfrm>
            <a:off x="1047750" y="5296852"/>
            <a:ext cx="8572500" cy="9525"/>
          </a:xfrm>
          <a:prstGeom prst="rect">
            <a:avLst/>
          </a:prstGeom>
          <a:solidFill>
            <a:srgbClr val="CCCCFF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47750" y="4722495"/>
            <a:ext cx="685800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A3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885950" y="4661535"/>
            <a:ext cx="2872407" cy="540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24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overview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1047750" y="6073140"/>
            <a:ext cx="8572500" cy="9525"/>
          </a:xfrm>
          <a:prstGeom prst="rect">
            <a:avLst/>
          </a:prstGeom>
          <a:solidFill>
            <a:srgbClr val="CCCCFF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47750" y="5498782"/>
            <a:ext cx="685800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A3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885950" y="5437823"/>
            <a:ext cx="3859125" cy="540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24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Intention ground truth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1047750" y="6849428"/>
            <a:ext cx="8572500" cy="9525"/>
          </a:xfrm>
          <a:prstGeom prst="rect">
            <a:avLst/>
          </a:prstGeom>
          <a:solidFill>
            <a:srgbClr val="CCCCFF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47750" y="6275070"/>
            <a:ext cx="685800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A3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885950" y="6214110"/>
            <a:ext cx="5841206" cy="540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24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taxonomy and annotation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1047750" y="7625715"/>
            <a:ext cx="8572500" cy="9525"/>
          </a:xfrm>
          <a:prstGeom prst="rect">
            <a:avLst/>
          </a:prstGeom>
          <a:solidFill>
            <a:srgbClr val="CCCCFF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47750" y="7051357"/>
            <a:ext cx="685800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A3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885950" y="6990398"/>
            <a:ext cx="2791206" cy="540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24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Corpus statistics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1047750" y="8402003"/>
            <a:ext cx="8572500" cy="9525"/>
          </a:xfrm>
          <a:prstGeom prst="rect">
            <a:avLst/>
          </a:prstGeom>
          <a:solidFill>
            <a:srgbClr val="CCCCFF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47750" y="7827645"/>
            <a:ext cx="685800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A3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885950" y="7766685"/>
            <a:ext cx="4010263" cy="540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24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Negotiation benchmark</a:t>
            </a:r>
            <a:endParaRPr lang="en-US" sz="255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049250" y="933450"/>
            <a:ext cx="4000500" cy="8610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047750" y="1097280"/>
            <a:ext cx="56578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930"/>
              </a:lnSpc>
              <a:buNone/>
            </a:pPr>
            <a:r>
              <a:rPr lang="en-US" sz="4500" b="1" kern="0" spc="-67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Overview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2125980"/>
            <a:ext cx="565785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144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ROWS · THREE STREAMS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2689860"/>
            <a:ext cx="647700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2100" b="1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3a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790700" y="2689860"/>
            <a:ext cx="4532567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210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Intention </a:t>
            </a:r>
            <a:r>
              <a:rPr lang="en-US" sz="21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P4G donation commitment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47750" y="3619500"/>
            <a:ext cx="647700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2100" b="1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3b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790700" y="3619500"/>
            <a:ext cx="4263426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210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</a:t>
            </a:r>
            <a:r>
              <a:rPr lang="en-US" sz="21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P4G persuader turns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047750" y="4189095"/>
            <a:ext cx="647700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2100" b="1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3c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790700" y="4189095"/>
            <a:ext cx="4532567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210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</a:t>
            </a:r>
            <a:r>
              <a:rPr lang="en-US" sz="21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e-commerce negotiation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047750" y="5252085"/>
            <a:ext cx="565785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144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COLUMNS · FOUR STAGES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47750" y="5815965"/>
            <a:ext cx="5297805" cy="1158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21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Data and labels → 2 Encoding and input → 3 Model streams → 4 Evaluation per stream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047750" y="7279005"/>
            <a:ext cx="5297805" cy="1158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210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Streams share encoder families and a role signal. No weights are shared between streams.</a:t>
            </a:r>
            <a:endParaRPr lang="en-US" sz="21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3303" y="609600"/>
            <a:ext cx="9351645" cy="8762881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4931748" y="9627870"/>
            <a:ext cx="2539353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Antiphony · Group 10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42950"/>
            <a:ext cx="146685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930"/>
              </a:lnSpc>
              <a:buNone/>
            </a:pPr>
            <a:r>
              <a:rPr lang="en-US" sz="4500" b="1" kern="0" spc="-67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Rebuilding the Intention Ground Truth</a:t>
            </a:r>
            <a:endParaRPr lang="en-US" sz="4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1752600"/>
            <a:ext cx="11239500" cy="6376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20650" y="3181350"/>
            <a:ext cx="486156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144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1 · MANUAL, TWO FIELDS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2820650" y="3592830"/>
            <a:ext cx="4861560" cy="5695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34135"/>
              </a:lnSpc>
              <a:buNone/>
            </a:pPr>
            <a:r>
              <a:rPr lang="en-US" sz="270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738 yes / 279 no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2820650" y="4181475"/>
            <a:ext cx="4552188" cy="706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581"/>
              </a:lnSpc>
              <a:buNone/>
            </a:pPr>
            <a:r>
              <a:rPr lang="en-US" sz="195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Modifier: none 657, deferred 68, conditional 13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2820650" y="5135880"/>
            <a:ext cx="486156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144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2 · MODIFIER DROPPED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2820650" y="5547360"/>
            <a:ext cx="4861560" cy="5695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34135"/>
              </a:lnSpc>
              <a:buNone/>
            </a:pPr>
            <a:r>
              <a:rPr lang="en-US" sz="270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Labels unchanged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12820650" y="6136005"/>
            <a:ext cx="4552188" cy="706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581"/>
              </a:lnSpc>
              <a:buNone/>
            </a:pPr>
            <a:r>
              <a:rPr lang="en-US" sz="195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supervisor’s direction; the modifier never broke 0.45 F1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12820650" y="7090410"/>
            <a:ext cx="486156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144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3 · STRICT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2820650" y="7501890"/>
            <a:ext cx="4861560" cy="5695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34135"/>
              </a:lnSpc>
              <a:buNone/>
            </a:pPr>
            <a:r>
              <a:rPr lang="en-US" sz="270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694 yes / 323 no</a:t>
            </a:r>
            <a:endParaRPr lang="en-US" sz="2700" dirty="0"/>
          </a:p>
        </p:txBody>
      </p:sp>
      <p:sp>
        <p:nvSpPr>
          <p:cNvPr id="12" name="Text 9"/>
          <p:cNvSpPr/>
          <p:nvPr/>
        </p:nvSpPr>
        <p:spPr>
          <a:xfrm>
            <a:off x="12820650" y="8090535"/>
            <a:ext cx="4861560" cy="372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581"/>
              </a:lnSpc>
              <a:buNone/>
            </a:pPr>
            <a:r>
              <a:rPr lang="en-US" sz="195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hedge or deferral counts as no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14931748" y="9627870"/>
            <a:ext cx="2539353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Antiphony · Group 10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609600"/>
            <a:ext cx="15192375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6765"/>
              </a:lnSpc>
              <a:buNone/>
            </a:pP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097280"/>
            <a:ext cx="1519237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930"/>
              </a:lnSpc>
              <a:buNone/>
            </a:pPr>
            <a:r>
              <a:rPr lang="en-US" sz="4500" b="1" kern="0" spc="-67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Rebuilding the Intention Ground Truth: Pass 3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2855595"/>
            <a:ext cx="2857500" cy="2377440"/>
          </a:xfrm>
          <a:prstGeom prst="roundRect">
            <a:avLst>
              <a:gd name="adj" fmla="val 1603"/>
            </a:avLst>
          </a:prstGeom>
          <a:solidFill>
            <a:srgbClr val="FFFFFF"/>
          </a:solidFill>
          <a:ln/>
          <a:effectLst>
            <a:outerShdw blurRad="133350" dist="28575" dir="5400000" algn="bl" rotWithShape="0">
              <a:srgbClr val="292966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333500" y="3122295"/>
            <a:ext cx="251460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144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2 LABELS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33500" y="3571875"/>
            <a:ext cx="2514600" cy="746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360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738 yes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333500" y="4375785"/>
            <a:ext cx="251460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621"/>
              </a:lnSpc>
              <a:buNone/>
            </a:pPr>
            <a:r>
              <a:rPr lang="en-US" sz="300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279 no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996202" y="3603784"/>
            <a:ext cx="3628096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6149"/>
              </a:lnSpc>
              <a:buNone/>
            </a:pPr>
            <a:r>
              <a:rPr lang="en-US" sz="195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· deterministic remap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4133850" y="4044791"/>
            <a:ext cx="3352800" cy="28575"/>
          </a:xfrm>
          <a:prstGeom prst="rect">
            <a:avLst/>
          </a:prstGeom>
          <a:solidFill>
            <a:srgbClr val="A3A3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08143" y="4130516"/>
            <a:ext cx="1804095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6765"/>
              </a:lnSpc>
              <a:buNone/>
            </a:pPr>
            <a:r>
              <a:rPr lang="en-US" sz="180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 moved to no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715250" y="2259330"/>
            <a:ext cx="2857500" cy="356997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/>
          <a:effectLst>
            <a:outerShdw blurRad="133350" dist="28575" dir="5400000" algn="bl" rotWithShape="0">
              <a:srgbClr val="292966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001000" y="2526030"/>
            <a:ext cx="2362200" cy="746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144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· MANUAL RE-READ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001000" y="3329940"/>
            <a:ext cx="2362200" cy="1455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360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 dialogues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8001000" y="4842510"/>
            <a:ext cx="2362200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210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 back to yes 44 stayed no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2171284" y="3603784"/>
            <a:ext cx="612934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6149"/>
              </a:lnSpc>
              <a:buNone/>
            </a:pPr>
            <a:r>
              <a:rPr lang="en-US" sz="195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0801350" y="4044791"/>
            <a:ext cx="3352800" cy="28575"/>
          </a:xfrm>
          <a:prstGeom prst="rect">
            <a:avLst/>
          </a:prstGeom>
          <a:solidFill>
            <a:srgbClr val="A3A3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1783491" y="4130516"/>
            <a:ext cx="138840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6765"/>
              </a:lnSpc>
              <a:buNone/>
            </a:pPr>
            <a:r>
              <a:rPr lang="en-US" sz="180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labels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4382750" y="2855595"/>
            <a:ext cx="2857500" cy="2377440"/>
          </a:xfrm>
          <a:prstGeom prst="roundRect">
            <a:avLst>
              <a:gd name="adj" fmla="val 1603"/>
            </a:avLst>
          </a:prstGeom>
          <a:solidFill>
            <a:srgbClr val="292966"/>
          </a:solidFill>
          <a:ln/>
          <a:effectLst>
            <a:outerShdw blurRad="133350" dist="28575" dir="5400000" algn="bl" rotWithShape="0">
              <a:srgbClr val="292966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4668500" y="3122295"/>
            <a:ext cx="251460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144" dirty="0">
                <a:solidFill>
                  <a:srgbClr val="CC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3 LABELS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668500" y="3571875"/>
            <a:ext cx="2514600" cy="746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694 yes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14668500" y="4375785"/>
            <a:ext cx="251460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621"/>
              </a:lnSpc>
              <a:buNone/>
            </a:pPr>
            <a:r>
              <a:rPr lang="en-US" sz="3000" dirty="0">
                <a:solidFill>
                  <a:srgbClr val="CC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323 no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047750" y="6496050"/>
            <a:ext cx="5448300" cy="1085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580"/>
              </a:lnSpc>
              <a:buNone/>
            </a:pPr>
            <a:r>
              <a:rPr lang="en-US" sz="825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92.21%</a:t>
            </a:r>
            <a:endParaRPr lang="en-US" sz="8250" dirty="0"/>
          </a:p>
        </p:txBody>
      </p:sp>
      <p:sp>
        <p:nvSpPr>
          <p:cNvPr id="23" name="Text 21"/>
          <p:cNvSpPr/>
          <p:nvPr/>
        </p:nvSpPr>
        <p:spPr>
          <a:xfrm>
            <a:off x="1047750" y="7639050"/>
            <a:ext cx="510159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733"/>
              </a:lnSpc>
              <a:buNone/>
            </a:pPr>
            <a:r>
              <a:rPr lang="en-US" sz="22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agreement with an independent second pass, 142 of 154 dialogues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6858000" y="6496050"/>
            <a:ext cx="11420475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144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12 DISAGREEMENTS · FOUR BOUNDARY CASES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858000" y="6983730"/>
            <a:ext cx="60960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733"/>
              </a:lnSpc>
              <a:buNone/>
            </a:pPr>
            <a:r>
              <a:rPr lang="en-US" sz="225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7524750" y="6983730"/>
            <a:ext cx="10251841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21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Ambiguous temporal deferrals: “I’ll donate through their website tonight”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6858000" y="7502843"/>
            <a:ext cx="60960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733"/>
              </a:lnSpc>
              <a:buNone/>
            </a:pPr>
            <a:r>
              <a:rPr lang="en-US" sz="225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</a:t>
            </a:r>
            <a:endParaRPr lang="en-US" sz="2250" dirty="0"/>
          </a:p>
        </p:txBody>
      </p:sp>
      <p:sp>
        <p:nvSpPr>
          <p:cNvPr id="28" name="Text 26"/>
          <p:cNvSpPr/>
          <p:nvPr/>
        </p:nvSpPr>
        <p:spPr>
          <a:xfrm>
            <a:off x="7524750" y="7502843"/>
            <a:ext cx="975691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21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Polite deflection read as consent: “Sure, that sounds like a great cause”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6858000" y="8021955"/>
            <a:ext cx="60960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733"/>
              </a:lnSpc>
              <a:buNone/>
            </a:pPr>
            <a:r>
              <a:rPr lang="en-US" sz="225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</a:t>
            </a:r>
            <a:endParaRPr lang="en-US" sz="2250" dirty="0"/>
          </a:p>
        </p:txBody>
      </p:sp>
      <p:sp>
        <p:nvSpPr>
          <p:cNvPr id="30" name="Text 28"/>
          <p:cNvSpPr/>
          <p:nvPr/>
        </p:nvSpPr>
        <p:spPr>
          <a:xfrm>
            <a:off x="7524750" y="8021955"/>
            <a:ext cx="6577382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21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matches: “I’ll give $1 if you give $1”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858000" y="8541068"/>
            <a:ext cx="60960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733"/>
              </a:lnSpc>
              <a:buNone/>
            </a:pPr>
            <a:r>
              <a:rPr lang="en-US" sz="225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</a:t>
            </a:r>
            <a:endParaRPr lang="en-US" sz="2250" dirty="0"/>
          </a:p>
        </p:txBody>
      </p:sp>
      <p:sp>
        <p:nvSpPr>
          <p:cNvPr id="32" name="Text 30"/>
          <p:cNvSpPr/>
          <p:nvPr/>
        </p:nvSpPr>
        <p:spPr>
          <a:xfrm>
            <a:off x="7524750" y="8541068"/>
            <a:ext cx="4290929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21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Unconfirmed donation queries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14931748" y="9627870"/>
            <a:ext cx="2539353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Antiphony · Group 10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609600"/>
            <a:ext cx="544830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6765"/>
              </a:lnSpc>
              <a:buNone/>
            </a:pP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097280"/>
            <a:ext cx="5101590" cy="2552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930"/>
              </a:lnSpc>
              <a:buNone/>
            </a:pPr>
            <a:r>
              <a:rPr lang="en-US" sz="4500" b="1" kern="0" spc="-67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Taxonomy and Annotation Pipeline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3954780"/>
            <a:ext cx="1323177" cy="952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957"/>
              </a:lnSpc>
              <a:buNone/>
            </a:pPr>
            <a:r>
              <a:rPr lang="en-US" sz="720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047750" y="4907280"/>
            <a:ext cx="1323177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149"/>
              </a:lnSpc>
              <a:buNone/>
            </a:pPr>
            <a:r>
              <a:rPr lang="en-US" sz="195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categories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2726888" y="3954780"/>
            <a:ext cx="1212175" cy="952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957"/>
              </a:lnSpc>
              <a:buNone/>
            </a:pPr>
            <a:r>
              <a:rPr lang="en-US" sz="720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2726888" y="4907280"/>
            <a:ext cx="1212175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149"/>
              </a:lnSpc>
              <a:buNone/>
            </a:pPr>
            <a:r>
              <a:rPr lang="en-US" sz="195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strategies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047750" y="5538788"/>
            <a:ext cx="544830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144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CONTEXT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47750" y="5950268"/>
            <a:ext cx="5448300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21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preceding turns, 200-turn batches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047750" y="6557963"/>
            <a:ext cx="544830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144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AGENT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47750" y="6969443"/>
            <a:ext cx="5448300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21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5 Sonnet labels each turn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047750" y="7577138"/>
            <a:ext cx="544830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144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CHECKPOINTS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47750" y="7988618"/>
            <a:ext cx="5101590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21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Smoke test and spot checks; pipeline.py validates every batch</a:t>
            </a:r>
            <a:endParaRPr lang="en-US" sz="21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1160978"/>
            <a:ext cx="10953750" cy="766012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4931748" y="9627870"/>
            <a:ext cx="2539353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Antiphony · Group 10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609600"/>
            <a:ext cx="15192375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6765"/>
              </a:lnSpc>
              <a:buNone/>
            </a:pP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097280"/>
            <a:ext cx="1519237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930"/>
              </a:lnSpc>
              <a:buNone/>
            </a:pPr>
            <a:r>
              <a:rPr lang="en-US" sz="4500" b="1" kern="0" spc="-67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Annotation: Four Decision Tests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2392680"/>
            <a:ext cx="3950018" cy="1085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580"/>
              </a:lnSpc>
              <a:buNone/>
            </a:pPr>
            <a:r>
              <a:rPr lang="en-US" sz="8250" b="1" dirty="0">
                <a:solidFill>
                  <a:srgbClr val="A3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250" dirty="0"/>
          </a:p>
        </p:txBody>
      </p:sp>
      <p:sp>
        <p:nvSpPr>
          <p:cNvPr id="5" name="Text 3"/>
          <p:cNvSpPr/>
          <p:nvPr/>
        </p:nvSpPr>
        <p:spPr>
          <a:xfrm>
            <a:off x="1047750" y="3611880"/>
            <a:ext cx="3950018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621"/>
              </a:lnSpc>
              <a:buNone/>
            </a:pPr>
            <a:r>
              <a:rPr lang="en-US" sz="300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Removal test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047750" y="4373880"/>
            <a:ext cx="3698653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733"/>
              </a:lnSpc>
              <a:buNone/>
            </a:pPr>
            <a:r>
              <a:rPr lang="en-US" sz="22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a label only if its evidence survives deleting the others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5248275" y="2392680"/>
            <a:ext cx="3950018" cy="1085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580"/>
              </a:lnSpc>
              <a:buNone/>
            </a:pPr>
            <a:r>
              <a:rPr lang="en-US" sz="8250" b="1" dirty="0">
                <a:solidFill>
                  <a:srgbClr val="A3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250" dirty="0"/>
          </a:p>
        </p:txBody>
      </p:sp>
      <p:sp>
        <p:nvSpPr>
          <p:cNvPr id="8" name="Text 6"/>
          <p:cNvSpPr/>
          <p:nvPr/>
        </p:nvSpPr>
        <p:spPr>
          <a:xfrm>
            <a:off x="5248275" y="3611880"/>
            <a:ext cx="3698653" cy="1219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3621"/>
              </a:lnSpc>
              <a:buNone/>
            </a:pPr>
            <a:r>
              <a:rPr lang="en-US" sz="300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 over general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248275" y="4964430"/>
            <a:ext cx="3698653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733"/>
              </a:lnSpc>
              <a:buNone/>
            </a:pPr>
            <a:r>
              <a:rPr lang="en-US" sz="22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fine strategy replaces its parent concept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9448800" y="2392680"/>
            <a:ext cx="3950018" cy="1085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580"/>
              </a:lnSpc>
              <a:buNone/>
            </a:pPr>
            <a:r>
              <a:rPr lang="en-US" sz="8250" b="1" dirty="0">
                <a:solidFill>
                  <a:srgbClr val="A3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250" dirty="0"/>
          </a:p>
        </p:txBody>
      </p:sp>
      <p:sp>
        <p:nvSpPr>
          <p:cNvPr id="11" name="Text 9"/>
          <p:cNvSpPr/>
          <p:nvPr/>
        </p:nvSpPr>
        <p:spPr>
          <a:xfrm>
            <a:off x="9448800" y="3611880"/>
            <a:ext cx="3698653" cy="1219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3621"/>
              </a:lnSpc>
              <a:buNone/>
            </a:pPr>
            <a:r>
              <a:rPr lang="en-US" sz="300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over keyword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448800" y="4964430"/>
            <a:ext cx="3698653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733"/>
              </a:lnSpc>
              <a:buNone/>
            </a:pPr>
            <a:r>
              <a:rPr lang="en-US" sz="22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the pragmatic role in context, not trigger words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3649325" y="2392680"/>
            <a:ext cx="3950018" cy="1085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580"/>
              </a:lnSpc>
              <a:buNone/>
            </a:pPr>
            <a:r>
              <a:rPr lang="en-US" sz="8250" b="1" dirty="0">
                <a:solidFill>
                  <a:srgbClr val="A3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250" dirty="0"/>
          </a:p>
        </p:txBody>
      </p:sp>
      <p:sp>
        <p:nvSpPr>
          <p:cNvPr id="14" name="Text 12"/>
          <p:cNvSpPr/>
          <p:nvPr/>
        </p:nvSpPr>
        <p:spPr>
          <a:xfrm>
            <a:off x="13649325" y="3611880"/>
            <a:ext cx="3950018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621"/>
              </a:lnSpc>
              <a:buNone/>
            </a:pPr>
            <a:r>
              <a:rPr lang="en-US" sz="300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Density cap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3649325" y="4373880"/>
            <a:ext cx="3698653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733"/>
              </a:lnSpc>
              <a:buNone/>
            </a:pPr>
            <a:r>
              <a:rPr lang="en-US" sz="22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to three labels typical, empty set allowed, six at most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047750" y="6978968"/>
            <a:ext cx="4456081" cy="838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500"/>
              </a:lnSpc>
              <a:buNone/>
            </a:pPr>
            <a:r>
              <a:rPr lang="en-US" sz="630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10,600 × 56</a:t>
            </a:r>
            <a:endParaRPr lang="en-US" sz="6300" dirty="0"/>
          </a:p>
        </p:txBody>
      </p:sp>
      <p:sp>
        <p:nvSpPr>
          <p:cNvPr id="17" name="Text 15"/>
          <p:cNvSpPr/>
          <p:nvPr/>
        </p:nvSpPr>
        <p:spPr>
          <a:xfrm>
            <a:off x="5479732" y="7344728"/>
            <a:ext cx="6044863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matrix, zero schema violations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4931748" y="9627870"/>
            <a:ext cx="2539353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Antiphony · Group 10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609600"/>
            <a:ext cx="15192375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6765"/>
              </a:lnSpc>
              <a:buNone/>
            </a:pP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097280"/>
            <a:ext cx="1519237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930"/>
              </a:lnSpc>
              <a:buNone/>
            </a:pPr>
            <a:r>
              <a:rPr lang="en-US" sz="4500" b="1" kern="0" spc="-67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Corpus Statistics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2106930"/>
            <a:ext cx="2630638" cy="876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614"/>
              </a:lnSpc>
              <a:buNone/>
            </a:pPr>
            <a:r>
              <a:rPr lang="en-US" sz="660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48.9%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3648789" y="2556510"/>
            <a:ext cx="4580885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21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turns are multi-label · mean 1.68, 6.7% empty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47750" y="3535680"/>
            <a:ext cx="775335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Turns by number of strategy labels (2 or more in dark)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69695" y="7050405"/>
            <a:ext cx="439103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707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158478" y="7480935"/>
            <a:ext cx="785336" cy="542925"/>
          </a:xfrm>
          <a:prstGeom prst="rect">
            <a:avLst/>
          </a:prstGeom>
          <a:solidFill>
            <a:srgbClr val="A3A3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281714" y="4023360"/>
            <a:ext cx="629007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4,707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165390" y="4453890"/>
            <a:ext cx="785455" cy="3569970"/>
          </a:xfrm>
          <a:prstGeom prst="rect">
            <a:avLst/>
          </a:prstGeom>
          <a:solidFill>
            <a:srgbClr val="A3A3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88744" y="4945380"/>
            <a:ext cx="629007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3,443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172420" y="5375910"/>
            <a:ext cx="785336" cy="2647950"/>
          </a:xfrm>
          <a:prstGeom prst="rect">
            <a:avLst/>
          </a:prstGeom>
          <a:solidFill>
            <a:srgbClr val="2929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295656" y="6745605"/>
            <a:ext cx="629007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1,098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179332" y="7176135"/>
            <a:ext cx="785336" cy="847725"/>
          </a:xfrm>
          <a:prstGeom prst="rect">
            <a:avLst/>
          </a:prstGeom>
          <a:solidFill>
            <a:srgbClr val="2929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397461" y="7288530"/>
            <a:ext cx="439103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392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186243" y="7719060"/>
            <a:ext cx="785336" cy="304800"/>
          </a:xfrm>
          <a:prstGeom prst="rect">
            <a:avLst/>
          </a:prstGeom>
          <a:solidFill>
            <a:srgbClr val="2929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4372" y="7459980"/>
            <a:ext cx="439103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175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193155" y="7890510"/>
            <a:ext cx="785336" cy="133350"/>
          </a:xfrm>
          <a:prstGeom prst="rect">
            <a:avLst/>
          </a:prstGeom>
          <a:solidFill>
            <a:srgbClr val="2929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471767" y="7536180"/>
            <a:ext cx="318135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200067" y="7966710"/>
            <a:ext cx="785336" cy="57150"/>
          </a:xfrm>
          <a:prstGeom prst="rect">
            <a:avLst/>
          </a:prstGeom>
          <a:solidFill>
            <a:srgbClr val="2929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09650" y="8157210"/>
            <a:ext cx="1083112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6149"/>
              </a:lnSpc>
              <a:buNone/>
            </a:pPr>
            <a:r>
              <a:rPr lang="en-US" sz="19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2016562" y="8157210"/>
            <a:ext cx="1083231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6149"/>
              </a:lnSpc>
              <a:buNone/>
            </a:pPr>
            <a:r>
              <a:rPr lang="en-US" sz="19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3023592" y="8157210"/>
            <a:ext cx="1083112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6149"/>
              </a:lnSpc>
              <a:buNone/>
            </a:pPr>
            <a:r>
              <a:rPr lang="en-US" sz="19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4030504" y="8157210"/>
            <a:ext cx="1083112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6149"/>
              </a:lnSpc>
              <a:buNone/>
            </a:pPr>
            <a:r>
              <a:rPr lang="en-US" sz="19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5037415" y="8157210"/>
            <a:ext cx="1083112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6149"/>
              </a:lnSpc>
              <a:buNone/>
            </a:pPr>
            <a:r>
              <a:rPr lang="en-US" sz="19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6044327" y="8157210"/>
            <a:ext cx="1083112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6149"/>
              </a:lnSpc>
              <a:buNone/>
            </a:pPr>
            <a:r>
              <a:rPr lang="en-US" sz="19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7051239" y="8157210"/>
            <a:ext cx="1083112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6149"/>
              </a:lnSpc>
              <a:buNone/>
            </a:pPr>
            <a:r>
              <a:rPr lang="en-US" sz="19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8953500" y="2106930"/>
            <a:ext cx="2654737" cy="876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614"/>
              </a:lnSpc>
              <a:buNone/>
            </a:pPr>
            <a:r>
              <a:rPr lang="en-US" sz="6600" b="1" dirty="0">
                <a:solidFill>
                  <a:srgbClr val="AA0B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46.2%</a:t>
            </a:r>
            <a:endParaRPr lang="en-US" sz="6600" dirty="0"/>
          </a:p>
        </p:txBody>
      </p:sp>
      <p:sp>
        <p:nvSpPr>
          <p:cNvPr id="29" name="Text 27"/>
          <p:cNvSpPr/>
          <p:nvPr/>
        </p:nvSpPr>
        <p:spPr>
          <a:xfrm>
            <a:off x="11576447" y="2556510"/>
            <a:ext cx="6095679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21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Relational and 36.1% Information dominate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8953500" y="3211830"/>
            <a:ext cx="929053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of turns by category · Threat, Commitment, Urgency each under 3%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582025" y="3693795"/>
            <a:ext cx="4086225" cy="39243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r">
              <a:lnSpc>
                <a:spcPct val="136765"/>
              </a:lnSpc>
              <a:buNone/>
            </a:pPr>
            <a:r>
              <a:rPr lang="en-US" sz="18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Relational and Interactive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2820650" y="3747135"/>
            <a:ext cx="3781425" cy="247650"/>
          </a:xfrm>
          <a:prstGeom prst="rect">
            <a:avLst/>
          </a:prstGeom>
          <a:solidFill>
            <a:srgbClr val="2929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6754475" y="3693795"/>
            <a:ext cx="721162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46.2%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582025" y="4074795"/>
            <a:ext cx="4086225" cy="39243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r">
              <a:lnSpc>
                <a:spcPct val="136765"/>
              </a:lnSpc>
              <a:buNone/>
            </a:pPr>
            <a:r>
              <a:rPr lang="en-US" sz="18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Provision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2820650" y="4128135"/>
            <a:ext cx="2952750" cy="247650"/>
          </a:xfrm>
          <a:prstGeom prst="rect">
            <a:avLst/>
          </a:prstGeom>
          <a:solidFill>
            <a:srgbClr val="2929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5925800" y="4074795"/>
            <a:ext cx="721162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36.1%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8582025" y="4455795"/>
            <a:ext cx="4086225" cy="39243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r">
              <a:lnSpc>
                <a:spcPct val="136765"/>
              </a:lnSpc>
              <a:buNone/>
            </a:pPr>
            <a:r>
              <a:rPr lang="en-US" sz="18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Emotional Appeal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2820650" y="4509135"/>
            <a:ext cx="1266825" cy="247650"/>
          </a:xfrm>
          <a:prstGeom prst="rect">
            <a:avLst/>
          </a:prstGeom>
          <a:solidFill>
            <a:srgbClr val="A3A3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4239875" y="4455795"/>
            <a:ext cx="721162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15.5%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8582025" y="4836795"/>
            <a:ext cx="4086225" cy="39243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r">
              <a:lnSpc>
                <a:spcPct val="136765"/>
              </a:lnSpc>
              <a:buNone/>
            </a:pPr>
            <a:r>
              <a:rPr lang="en-US" sz="18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Influence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12820650" y="4890135"/>
            <a:ext cx="971550" cy="247650"/>
          </a:xfrm>
          <a:prstGeom prst="rect">
            <a:avLst/>
          </a:prstGeom>
          <a:solidFill>
            <a:srgbClr val="A3A3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3944600" y="4836795"/>
            <a:ext cx="721162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11.9%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8582025" y="5217795"/>
            <a:ext cx="4086225" cy="39243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r">
              <a:lnSpc>
                <a:spcPct val="136765"/>
              </a:lnSpc>
              <a:buNone/>
            </a:pPr>
            <a:r>
              <a:rPr lang="en-US" sz="18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Reciprocity and Exchange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12820650" y="5271135"/>
            <a:ext cx="838200" cy="247650"/>
          </a:xfrm>
          <a:prstGeom prst="rect">
            <a:avLst/>
          </a:prstGeom>
          <a:solidFill>
            <a:srgbClr val="A3A3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13811250" y="5217795"/>
            <a:ext cx="721162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10.2%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8582025" y="5598795"/>
            <a:ext cx="4086225" cy="39243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r">
              <a:lnSpc>
                <a:spcPct val="136765"/>
              </a:lnSpc>
              <a:buNone/>
            </a:pPr>
            <a:r>
              <a:rPr lang="en-US" sz="18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Framing and Presentation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12820650" y="5652135"/>
            <a:ext cx="781050" cy="247650"/>
          </a:xfrm>
          <a:prstGeom prst="rect">
            <a:avLst/>
          </a:prstGeom>
          <a:solidFill>
            <a:srgbClr val="A3A3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13754100" y="5598795"/>
            <a:ext cx="600194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9.5%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8582025" y="5979795"/>
            <a:ext cx="4086225" cy="39243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r">
              <a:lnSpc>
                <a:spcPct val="136765"/>
              </a:lnSpc>
              <a:buNone/>
            </a:pPr>
            <a:r>
              <a:rPr lang="en-US" sz="18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Credibility Appeal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12820650" y="6033135"/>
            <a:ext cx="695325" cy="247650"/>
          </a:xfrm>
          <a:prstGeom prst="rect">
            <a:avLst/>
          </a:prstGeom>
          <a:solidFill>
            <a:srgbClr val="A3A3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13668375" y="5979795"/>
            <a:ext cx="600194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8.5%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8582025" y="6360795"/>
            <a:ext cx="4086225" cy="39243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r">
              <a:lnSpc>
                <a:spcPct val="136765"/>
              </a:lnSpc>
              <a:buNone/>
            </a:pPr>
            <a:r>
              <a:rPr lang="en-US" sz="18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 Appeal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12820650" y="6414135"/>
            <a:ext cx="581025" cy="247650"/>
          </a:xfrm>
          <a:prstGeom prst="rect">
            <a:avLst/>
          </a:prstGeom>
          <a:solidFill>
            <a:srgbClr val="A3A3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13554075" y="6360795"/>
            <a:ext cx="600194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7.1%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8582025" y="6741795"/>
            <a:ext cx="4086225" cy="39243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r">
              <a:lnSpc>
                <a:spcPct val="136765"/>
              </a:lnSpc>
              <a:buNone/>
            </a:pPr>
            <a:r>
              <a:rPr lang="en-US" sz="18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and Pressure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12820650" y="6795135"/>
            <a:ext cx="190500" cy="247650"/>
          </a:xfrm>
          <a:prstGeom prst="rect">
            <a:avLst/>
          </a:prstGeom>
          <a:solidFill>
            <a:srgbClr val="CCC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13163550" y="6741795"/>
            <a:ext cx="600194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2.3%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8582025" y="7122795"/>
            <a:ext cx="4086225" cy="39243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r">
              <a:lnSpc>
                <a:spcPct val="136765"/>
              </a:lnSpc>
              <a:buNone/>
            </a:pPr>
            <a:r>
              <a:rPr lang="en-US" sz="18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Commitment and Consistency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12820650" y="7176135"/>
            <a:ext cx="133350" cy="247650"/>
          </a:xfrm>
          <a:prstGeom prst="rect">
            <a:avLst/>
          </a:prstGeom>
          <a:solidFill>
            <a:srgbClr val="CCC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13106400" y="7122795"/>
            <a:ext cx="600194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1.6%</a:t>
            </a:r>
            <a:endParaRPr lang="en-US" sz="1800" dirty="0"/>
          </a:p>
        </p:txBody>
      </p:sp>
      <p:sp>
        <p:nvSpPr>
          <p:cNvPr id="61" name="Text 59"/>
          <p:cNvSpPr/>
          <p:nvPr/>
        </p:nvSpPr>
        <p:spPr>
          <a:xfrm>
            <a:off x="8582025" y="7503795"/>
            <a:ext cx="4086225" cy="39243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r">
              <a:lnSpc>
                <a:spcPct val="136765"/>
              </a:lnSpc>
              <a:buNone/>
            </a:pPr>
            <a:r>
              <a:rPr lang="en-US" sz="18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Urgency and Scarcity</a:t>
            </a:r>
            <a:endParaRPr lang="en-US" sz="1800" dirty="0"/>
          </a:p>
        </p:txBody>
      </p:sp>
      <p:sp>
        <p:nvSpPr>
          <p:cNvPr id="62" name="Shape 60"/>
          <p:cNvSpPr/>
          <p:nvPr/>
        </p:nvSpPr>
        <p:spPr>
          <a:xfrm>
            <a:off x="12820650" y="7557135"/>
            <a:ext cx="123825" cy="247650"/>
          </a:xfrm>
          <a:prstGeom prst="rect">
            <a:avLst/>
          </a:prstGeom>
          <a:solidFill>
            <a:srgbClr val="CCC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13096875" y="7503795"/>
            <a:ext cx="600194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1.5%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14931748" y="9627870"/>
            <a:ext cx="2539353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Antiphony · Group 10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609600"/>
            <a:ext cx="15192375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6765"/>
              </a:lnSpc>
              <a:buNone/>
            </a:pP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097280"/>
            <a:ext cx="14225588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930"/>
              </a:lnSpc>
              <a:buNone/>
            </a:pPr>
            <a:r>
              <a:rPr lang="en-US" sz="4500" b="1" kern="0" spc="-67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Corpus Statistics: The 41-Strategy Long Tail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2830830"/>
            <a:ext cx="1131570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frequent strategies · turns out of 10,600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00075" y="3393281"/>
            <a:ext cx="4924425" cy="42195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r">
              <a:lnSpc>
                <a:spcPct val="136149"/>
              </a:lnSpc>
              <a:buNone/>
            </a:pPr>
            <a:r>
              <a:rPr lang="en-US" sz="19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rapport_building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5676900" y="3432810"/>
            <a:ext cx="4629150" cy="304800"/>
          </a:xfrm>
          <a:prstGeom prst="rect">
            <a:avLst/>
          </a:prstGeom>
          <a:solidFill>
            <a:srgbClr val="5C5C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458450" y="3393281"/>
            <a:ext cx="675084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149"/>
              </a:lnSpc>
              <a:buNone/>
            </a:pPr>
            <a:r>
              <a:rPr lang="en-US" sz="19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2,860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600075" y="3945731"/>
            <a:ext cx="4924425" cy="42195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r">
              <a:lnSpc>
                <a:spcPct val="136149"/>
              </a:lnSpc>
              <a:buNone/>
            </a:pPr>
            <a:r>
              <a:rPr lang="en-US" sz="19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organization_information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5676900" y="3985260"/>
            <a:ext cx="2809875" cy="304800"/>
          </a:xfrm>
          <a:prstGeom prst="rect">
            <a:avLst/>
          </a:prstGeom>
          <a:solidFill>
            <a:srgbClr val="5C5C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39175" y="3945731"/>
            <a:ext cx="675084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149"/>
              </a:lnSpc>
              <a:buNone/>
            </a:pPr>
            <a:r>
              <a:rPr lang="en-US" sz="19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1,735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600075" y="4498181"/>
            <a:ext cx="4924425" cy="42195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r">
              <a:lnSpc>
                <a:spcPct val="136149"/>
              </a:lnSpc>
              <a:buNone/>
            </a:pPr>
            <a:r>
              <a:rPr lang="en-US" sz="19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donation_procedure_information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5676900" y="4537710"/>
            <a:ext cx="2295525" cy="304800"/>
          </a:xfrm>
          <a:prstGeom prst="rect">
            <a:avLst/>
          </a:prstGeom>
          <a:solidFill>
            <a:srgbClr val="5C5C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124825" y="4498181"/>
            <a:ext cx="675084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149"/>
              </a:lnSpc>
              <a:buNone/>
            </a:pPr>
            <a:r>
              <a:rPr lang="en-US" sz="19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1,417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600075" y="5050631"/>
            <a:ext cx="4924425" cy="42195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r">
              <a:lnSpc>
                <a:spcPct val="136149"/>
              </a:lnSpc>
              <a:buNone/>
            </a:pPr>
            <a:r>
              <a:rPr lang="en-US" sz="19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personal_related_inquiry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5676900" y="5090160"/>
            <a:ext cx="2143125" cy="304800"/>
          </a:xfrm>
          <a:prstGeom prst="rect">
            <a:avLst/>
          </a:prstGeom>
          <a:solidFill>
            <a:srgbClr val="5C5C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972425" y="5050631"/>
            <a:ext cx="675084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149"/>
              </a:lnSpc>
              <a:buNone/>
            </a:pPr>
            <a:r>
              <a:rPr lang="en-US" sz="19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1,328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600075" y="5603081"/>
            <a:ext cx="4924425" cy="42195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r">
              <a:lnSpc>
                <a:spcPct val="136149"/>
              </a:lnSpc>
              <a:buNone/>
            </a:pPr>
            <a:r>
              <a:rPr lang="en-US" sz="19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personal_story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5676900" y="5642610"/>
            <a:ext cx="1847850" cy="304800"/>
          </a:xfrm>
          <a:prstGeom prst="rect">
            <a:avLst/>
          </a:prstGeom>
          <a:solidFill>
            <a:srgbClr val="5C5C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677150" y="5603081"/>
            <a:ext cx="675084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149"/>
              </a:lnSpc>
              <a:buNone/>
            </a:pPr>
            <a:r>
              <a:rPr lang="en-US" sz="19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1,150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600075" y="6155531"/>
            <a:ext cx="4924425" cy="42195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r">
              <a:lnSpc>
                <a:spcPct val="136149"/>
              </a:lnSpc>
              <a:buNone/>
            </a:pPr>
            <a:r>
              <a:rPr lang="en-US" sz="19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emotion_appeal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5676900" y="6195060"/>
            <a:ext cx="1666875" cy="304800"/>
          </a:xfrm>
          <a:prstGeom prst="rect">
            <a:avLst/>
          </a:prstGeom>
          <a:solidFill>
            <a:srgbClr val="5C5C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496175" y="6155531"/>
            <a:ext cx="675084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149"/>
              </a:lnSpc>
              <a:buNone/>
            </a:pPr>
            <a:r>
              <a:rPr lang="en-US" sz="19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1,023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600075" y="6707981"/>
            <a:ext cx="4924425" cy="42195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r">
              <a:lnSpc>
                <a:spcPct val="136149"/>
              </a:lnSpc>
              <a:buNone/>
            </a:pPr>
            <a:r>
              <a:rPr lang="en-US" sz="19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gratitude_and_appreciation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5676900" y="6747510"/>
            <a:ext cx="1562100" cy="304800"/>
          </a:xfrm>
          <a:prstGeom prst="rect">
            <a:avLst/>
          </a:prstGeom>
          <a:solidFill>
            <a:srgbClr val="5C5C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391400" y="6707981"/>
            <a:ext cx="469225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149"/>
              </a:lnSpc>
              <a:buNone/>
            </a:pPr>
            <a:r>
              <a:rPr lang="en-US" sz="19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966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600075" y="7260431"/>
            <a:ext cx="4924425" cy="42195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r">
              <a:lnSpc>
                <a:spcPct val="136149"/>
              </a:lnSpc>
              <a:buNone/>
            </a:pPr>
            <a:r>
              <a:rPr lang="en-US" sz="19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minimization_framing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5676900" y="7299960"/>
            <a:ext cx="1371600" cy="304800"/>
          </a:xfrm>
          <a:prstGeom prst="rect">
            <a:avLst/>
          </a:prstGeom>
          <a:solidFill>
            <a:srgbClr val="5C5C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200900" y="7260431"/>
            <a:ext cx="469225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149"/>
              </a:lnSpc>
              <a:buNone/>
            </a:pPr>
            <a:r>
              <a:rPr lang="en-US" sz="19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849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12287250" y="2830830"/>
            <a:ext cx="544830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Rarest strategies · turns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2287250" y="3337560"/>
            <a:ext cx="1541371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21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reciprocity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16948428" y="3337560"/>
            <a:ext cx="368022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2100" b="1" dirty="0">
                <a:solidFill>
                  <a:srgbClr val="AA0B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12287250" y="3850005"/>
            <a:ext cx="2159282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21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scarcity_appeal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17094280" y="3850005"/>
            <a:ext cx="222171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2100" b="1" dirty="0">
                <a:solidFill>
                  <a:srgbClr val="AA0B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12287250" y="4362450"/>
            <a:ext cx="4416135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21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negative_consequence_warning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17094280" y="4362450"/>
            <a:ext cx="222171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2100" b="1" dirty="0">
                <a:solidFill>
                  <a:srgbClr val="AA0B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12287250" y="4874895"/>
            <a:ext cx="3284041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21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authority_endorsement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17094280" y="4874895"/>
            <a:ext cx="222171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2100" b="1" dirty="0">
                <a:solidFill>
                  <a:srgbClr val="AA0B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100" dirty="0"/>
          </a:p>
        </p:txBody>
      </p:sp>
      <p:sp>
        <p:nvSpPr>
          <p:cNvPr id="38" name="Text 36"/>
          <p:cNvSpPr/>
          <p:nvPr/>
        </p:nvSpPr>
        <p:spPr>
          <a:xfrm>
            <a:off x="12287250" y="5387340"/>
            <a:ext cx="2562011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21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deadline_pressure</a:t>
            </a:r>
            <a:endParaRPr lang="en-US" sz="2100" dirty="0"/>
          </a:p>
        </p:txBody>
      </p:sp>
      <p:sp>
        <p:nvSpPr>
          <p:cNvPr id="39" name="Text 37"/>
          <p:cNvSpPr/>
          <p:nvPr/>
        </p:nvSpPr>
        <p:spPr>
          <a:xfrm>
            <a:off x="17094280" y="5387340"/>
            <a:ext cx="222171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2100" b="1" dirty="0">
                <a:solidFill>
                  <a:srgbClr val="AA0B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12287250" y="5899785"/>
            <a:ext cx="2378393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21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door_in_the_face</a:t>
            </a:r>
            <a:endParaRPr lang="en-US" sz="2100" dirty="0"/>
          </a:p>
        </p:txBody>
      </p:sp>
      <p:sp>
        <p:nvSpPr>
          <p:cNvPr id="41" name="Text 39"/>
          <p:cNvSpPr/>
          <p:nvPr/>
        </p:nvSpPr>
        <p:spPr>
          <a:xfrm>
            <a:off x="17094280" y="5899785"/>
            <a:ext cx="222171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2100" b="1" dirty="0">
                <a:solidFill>
                  <a:srgbClr val="AA0B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42" name="Text 40"/>
          <p:cNvSpPr/>
          <p:nvPr/>
        </p:nvSpPr>
        <p:spPr>
          <a:xfrm>
            <a:off x="12287250" y="6697980"/>
            <a:ext cx="5101590" cy="1118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21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rapport_building alone labels 27.0% of turns. Six strategies appear in 14 turns or fewer.</a:t>
            </a:r>
            <a:endParaRPr lang="en-US" sz="2100" dirty="0"/>
          </a:p>
        </p:txBody>
      </p:sp>
      <p:sp>
        <p:nvSpPr>
          <p:cNvPr id="43" name="Text 41"/>
          <p:cNvSpPr/>
          <p:nvPr/>
        </p:nvSpPr>
        <p:spPr>
          <a:xfrm>
            <a:off x="14931748" y="9627870"/>
            <a:ext cx="2539353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Antiphony · Group 10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609600"/>
            <a:ext cx="15192375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6765"/>
              </a:lnSpc>
              <a:buNone/>
            </a:pP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097280"/>
            <a:ext cx="1519237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930"/>
              </a:lnSpc>
              <a:buNone/>
            </a:pPr>
            <a:r>
              <a:rPr lang="en-US" sz="4500" b="1" kern="0" spc="-67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Corpus Statistics: Timing and Ceiling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2106930"/>
            <a:ext cx="981075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733"/>
              </a:lnSpc>
              <a:buNone/>
            </a:pPr>
            <a:r>
              <a:rPr lang="en-US" sz="22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Strategies follow the dialogue’s shape: rapport comes early, procedure and gratitude come late.</a:t>
            </a:r>
            <a:endParaRPr lang="en-US" sz="22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750" y="3068955"/>
            <a:ext cx="9525000" cy="5715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0" y="2202180"/>
            <a:ext cx="6391275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144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AGREEMENT CEILING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1430000" y="2807970"/>
            <a:ext cx="235783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174"/>
              </a:lnSpc>
              <a:buNone/>
            </a:pPr>
            <a:r>
              <a:rPr lang="en-US" sz="22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annotator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16384667" y="2747010"/>
            <a:ext cx="931783" cy="5695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135"/>
              </a:lnSpc>
              <a:buNone/>
            </a:pPr>
            <a:r>
              <a:rPr lang="en-US" sz="2700" b="1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0.871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11430000" y="3644265"/>
            <a:ext cx="239830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174"/>
              </a:lnSpc>
              <a:buNone/>
            </a:pPr>
            <a:r>
              <a:rPr lang="en-US" sz="22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Cross-annotator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16384667" y="3583305"/>
            <a:ext cx="931783" cy="5695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135"/>
              </a:lnSpc>
              <a:buNone/>
            </a:pPr>
            <a:r>
              <a:rPr lang="en-US" sz="2700" b="1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0.657</a:t>
            </a:r>
            <a:endParaRPr lang="en-US" sz="2700" dirty="0"/>
          </a:p>
        </p:txBody>
      </p:sp>
      <p:sp>
        <p:nvSpPr>
          <p:cNvPr id="11" name="Shape 8"/>
          <p:cNvSpPr/>
          <p:nvPr/>
        </p:nvSpPr>
        <p:spPr>
          <a:xfrm>
            <a:off x="11430000" y="4362450"/>
            <a:ext cx="5810250" cy="15240"/>
          </a:xfrm>
          <a:prstGeom prst="rect">
            <a:avLst/>
          </a:prstGeom>
          <a:solidFill>
            <a:srgbClr val="2929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1430000" y="4682490"/>
            <a:ext cx="273096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174"/>
              </a:lnSpc>
              <a:buNone/>
            </a:pPr>
            <a:r>
              <a:rPr lang="en-US" sz="225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Consensus ceiling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15926991" y="4491990"/>
            <a:ext cx="1444585" cy="746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360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0.79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11430000" y="5581650"/>
            <a:ext cx="5984558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21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Micro-F1 above ≈ 0.79 would mean fitting one annotator’s habits.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11430000" y="6511290"/>
            <a:ext cx="5984558" cy="706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581"/>
              </a:lnSpc>
              <a:buNone/>
            </a:pPr>
            <a:r>
              <a:rPr lang="en-US" sz="195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Rater effect: one segment averaged 2.38 labels per turn, another 1.24.</a:t>
            </a:r>
            <a:endParaRPr lang="en-US" sz="1950" dirty="0"/>
          </a:p>
        </p:txBody>
      </p:sp>
      <p:sp>
        <p:nvSpPr>
          <p:cNvPr id="16" name="Text 13"/>
          <p:cNvSpPr/>
          <p:nvPr/>
        </p:nvSpPr>
        <p:spPr>
          <a:xfrm>
            <a:off x="14931748" y="9627870"/>
            <a:ext cx="2539353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Antiphony · Group 10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609600"/>
            <a:ext cx="544830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6765"/>
              </a:lnSpc>
              <a:buNone/>
            </a:pP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097280"/>
            <a:ext cx="5101590" cy="2552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930"/>
              </a:lnSpc>
              <a:buNone/>
            </a:pPr>
            <a:r>
              <a:rPr lang="en-US" sz="4500" b="1" kern="0" spc="-67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E-commerce Negotiation Benchmark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3897630"/>
            <a:ext cx="544830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144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· PERSONA SYNTHESIS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4309110"/>
            <a:ext cx="5101590" cy="1118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21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Regime A canonical, N = 500, 8 buyer archetypes. Regime B, N = 200: 65 + 65 reversals, 70 controls.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47750" y="5674995"/>
            <a:ext cx="544830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144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· PARAPHRASING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47750" y="6086475"/>
            <a:ext cx="5101590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21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Gemini, facts locked, similarity gate 0.82, micro-jitter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47750" y="7092315"/>
            <a:ext cx="544830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144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· LABELS AND AUDIT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47750" y="7503795"/>
            <a:ext cx="5101590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21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labelling plus a 100% human audit</a:t>
            </a:r>
            <a:endParaRPr lang="en-US" sz="21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8896" y="3276719"/>
            <a:ext cx="9189839" cy="609588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931748" y="9627870"/>
            <a:ext cx="2539353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Antiphony · Group 10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609600"/>
            <a:ext cx="15192375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6765"/>
              </a:lnSpc>
              <a:buNone/>
            </a:pP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097280"/>
            <a:ext cx="1519237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930"/>
              </a:lnSpc>
              <a:buNone/>
            </a:pPr>
            <a:r>
              <a:rPr lang="en-US" sz="4500" b="1" kern="0" spc="-67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Negotiation Benchmark: Counts and Rationale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2265045"/>
            <a:ext cx="228600" cy="228600"/>
          </a:xfrm>
          <a:prstGeom prst="rect">
            <a:avLst/>
          </a:prstGeom>
          <a:solidFill>
            <a:srgbClr val="A3A3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371600" y="2217420"/>
            <a:ext cx="2062163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Canonical, N = 500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43313" y="2265045"/>
            <a:ext cx="228600" cy="228600"/>
          </a:xfrm>
          <a:prstGeom prst="rect">
            <a:avLst/>
          </a:prstGeom>
          <a:solidFill>
            <a:srgbClr val="2929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967163" y="2217420"/>
            <a:ext cx="2096214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Combined, N = 700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47750" y="2766060"/>
            <a:ext cx="8591550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 committed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1047750" y="3270885"/>
            <a:ext cx="5438775" cy="285750"/>
          </a:xfrm>
          <a:prstGeom prst="rect">
            <a:avLst/>
          </a:prstGeom>
          <a:solidFill>
            <a:srgbClr val="A3A3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19875" y="3236595"/>
            <a:ext cx="439103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238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47750" y="3682365"/>
            <a:ext cx="7301984" cy="285750"/>
          </a:xfrm>
          <a:prstGeom prst="rect">
            <a:avLst/>
          </a:prstGeom>
          <a:solidFill>
            <a:srgbClr val="2929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483084" y="3648075"/>
            <a:ext cx="451366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338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47750" y="4211955"/>
            <a:ext cx="8591550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Deferred consideration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047750" y="4716780"/>
            <a:ext cx="3181350" cy="285750"/>
          </a:xfrm>
          <a:prstGeom prst="rect">
            <a:avLst/>
          </a:prstGeom>
          <a:solidFill>
            <a:srgbClr val="A3A3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362450" y="4682490"/>
            <a:ext cx="439103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139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47750" y="5128260"/>
            <a:ext cx="3590925" cy="285750"/>
          </a:xfrm>
          <a:prstGeom prst="rect">
            <a:avLst/>
          </a:prstGeom>
          <a:solidFill>
            <a:srgbClr val="2929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72025" y="5093970"/>
            <a:ext cx="451366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157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47750" y="5657850"/>
            <a:ext cx="8591550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Inquiry dropout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1047750" y="6162675"/>
            <a:ext cx="2562225" cy="285750"/>
          </a:xfrm>
          <a:prstGeom prst="rect">
            <a:avLst/>
          </a:prstGeom>
          <a:solidFill>
            <a:srgbClr val="A3A3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743325" y="6128385"/>
            <a:ext cx="439103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47750" y="6574155"/>
            <a:ext cx="2857500" cy="285750"/>
          </a:xfrm>
          <a:prstGeom prst="rect">
            <a:avLst/>
          </a:prstGeom>
          <a:solidFill>
            <a:srgbClr val="2929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038600" y="6539865"/>
            <a:ext cx="451366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47750" y="7103745"/>
            <a:ext cx="8591550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rejection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1047750" y="7608570"/>
            <a:ext cx="247650" cy="285750"/>
          </a:xfrm>
          <a:prstGeom prst="rect">
            <a:avLst/>
          </a:prstGeom>
          <a:solidFill>
            <a:srgbClr val="A3A3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428750" y="7574280"/>
            <a:ext cx="318135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047750" y="8020050"/>
            <a:ext cx="1828800" cy="285750"/>
          </a:xfrm>
          <a:prstGeom prst="rect">
            <a:avLst/>
          </a:prstGeom>
          <a:solidFill>
            <a:srgbClr val="2929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009900" y="7985760"/>
            <a:ext cx="32635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810750" y="2202180"/>
            <a:ext cx="3109722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144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CANONICAL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810750" y="2613660"/>
            <a:ext cx="3109722" cy="723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379"/>
              </a:lnSpc>
              <a:buNone/>
            </a:pPr>
            <a:r>
              <a:rPr lang="en-US" sz="540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262 / 238</a:t>
            </a:r>
            <a:endParaRPr lang="en-US" sz="5400" dirty="0"/>
          </a:p>
        </p:txBody>
      </p:sp>
      <p:sp>
        <p:nvSpPr>
          <p:cNvPr id="30" name="Text 28"/>
          <p:cNvSpPr/>
          <p:nvPr/>
        </p:nvSpPr>
        <p:spPr>
          <a:xfrm>
            <a:off x="9810750" y="3356610"/>
            <a:ext cx="3109722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149"/>
              </a:lnSpc>
              <a:buNone/>
            </a:pPr>
            <a:r>
              <a:rPr lang="en-US" sz="195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/ yes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13209270" y="2202180"/>
            <a:ext cx="311352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144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3209270" y="2613660"/>
            <a:ext cx="3113520" cy="723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379"/>
              </a:lnSpc>
              <a:buNone/>
            </a:pPr>
            <a:r>
              <a:rPr lang="en-US" sz="540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362 / 338</a:t>
            </a:r>
            <a:endParaRPr lang="en-US" sz="5400" dirty="0"/>
          </a:p>
        </p:txBody>
      </p:sp>
      <p:sp>
        <p:nvSpPr>
          <p:cNvPr id="33" name="Text 31"/>
          <p:cNvSpPr/>
          <p:nvPr/>
        </p:nvSpPr>
        <p:spPr>
          <a:xfrm>
            <a:off x="13209270" y="3356610"/>
            <a:ext cx="3113520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149"/>
              </a:lnSpc>
              <a:buNone/>
            </a:pPr>
            <a:r>
              <a:rPr lang="en-US" sz="195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/ yes</a:t>
            </a:r>
            <a:endParaRPr lang="en-US" sz="1950" dirty="0"/>
          </a:p>
        </p:txBody>
      </p:sp>
      <p:sp>
        <p:nvSpPr>
          <p:cNvPr id="34" name="Text 32"/>
          <p:cNvSpPr/>
          <p:nvPr/>
        </p:nvSpPr>
        <p:spPr>
          <a:xfrm>
            <a:off x="9810750" y="4064318"/>
            <a:ext cx="300403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144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REVERSALS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9810750" y="4475797"/>
            <a:ext cx="3004030" cy="723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379"/>
              </a:lnSpc>
              <a:buNone/>
            </a:pPr>
            <a:r>
              <a:rPr lang="en-US" sz="540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/ 100</a:t>
            </a:r>
            <a:endParaRPr lang="en-US" sz="5400" dirty="0"/>
          </a:p>
        </p:txBody>
      </p:sp>
      <p:sp>
        <p:nvSpPr>
          <p:cNvPr id="36" name="Text 34"/>
          <p:cNvSpPr/>
          <p:nvPr/>
        </p:nvSpPr>
        <p:spPr>
          <a:xfrm>
            <a:off x="9810750" y="5218748"/>
            <a:ext cx="3004030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149"/>
              </a:lnSpc>
              <a:buNone/>
            </a:pPr>
            <a:r>
              <a:rPr lang="en-US" sz="195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/ yes</a:t>
            </a:r>
            <a:endParaRPr lang="en-US" sz="1950" dirty="0"/>
          </a:p>
        </p:txBody>
      </p:sp>
      <p:sp>
        <p:nvSpPr>
          <p:cNvPr id="37" name="Text 35"/>
          <p:cNvSpPr/>
          <p:nvPr/>
        </p:nvSpPr>
        <p:spPr>
          <a:xfrm>
            <a:off x="13113187" y="4064318"/>
            <a:ext cx="2489454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144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TURNS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3113187" y="4475797"/>
            <a:ext cx="2489454" cy="723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379"/>
              </a:lnSpc>
              <a:buNone/>
            </a:pPr>
            <a:r>
              <a:rPr lang="en-US" sz="540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16.2</a:t>
            </a:r>
            <a:endParaRPr lang="en-US" sz="5400" dirty="0"/>
          </a:p>
        </p:txBody>
      </p:sp>
      <p:sp>
        <p:nvSpPr>
          <p:cNvPr id="39" name="Text 37"/>
          <p:cNvSpPr/>
          <p:nvPr/>
        </p:nvSpPr>
        <p:spPr>
          <a:xfrm>
            <a:off x="13113187" y="5218748"/>
            <a:ext cx="2489454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149"/>
              </a:lnSpc>
              <a:buNone/>
            </a:pPr>
            <a:r>
              <a:rPr lang="en-US" sz="195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mean, range 6 to 32</a:t>
            </a:r>
            <a:endParaRPr lang="en-US" sz="1950" dirty="0"/>
          </a:p>
        </p:txBody>
      </p:sp>
      <p:sp>
        <p:nvSpPr>
          <p:cNvPr id="40" name="Text 38"/>
          <p:cNvSpPr/>
          <p:nvPr/>
        </p:nvSpPr>
        <p:spPr>
          <a:xfrm>
            <a:off x="9810750" y="6021705"/>
            <a:ext cx="817245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144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SYNTHETIC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9810750" y="6471285"/>
            <a:ext cx="7652385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21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merchant chats are private. Canonical data was “solvable from the last line”, so 200 reversals were added.</a:t>
            </a:r>
            <a:endParaRPr lang="en-US" sz="2100" dirty="0"/>
          </a:p>
        </p:txBody>
      </p:sp>
      <p:sp>
        <p:nvSpPr>
          <p:cNvPr id="42" name="Text 40"/>
          <p:cNvSpPr/>
          <p:nvPr/>
        </p:nvSpPr>
        <p:spPr>
          <a:xfrm>
            <a:off x="14931748" y="9627870"/>
            <a:ext cx="2539353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Antiphony · Group 10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C1C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5C5C99">
                  <a:alpha val="55000"/>
                </a:srgbClr>
              </a:gs>
              <a:gs pos="70000">
                <a:srgbClr val="5C5C99">
                  <a:alpha val="0"/>
                </a:srgbClr>
              </a:gs>
            </a:gsLst>
            <a:path path="circle">
              <a:fillToRect l="88000" t="12000" r="12000" b="88000"/>
            </a:path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47750" y="2633663"/>
            <a:ext cx="533400" cy="28575"/>
          </a:xfrm>
          <a:prstGeom prst="rect">
            <a:avLst/>
          </a:prstGeom>
          <a:solidFill>
            <a:srgbClr val="CCC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752600" y="2456021"/>
            <a:ext cx="1889224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149"/>
              </a:lnSpc>
              <a:buNone/>
            </a:pPr>
            <a:r>
              <a:rPr lang="en-US" sz="1950" kern="0" spc="234" dirty="0">
                <a:solidFill>
                  <a:srgbClr val="CC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OF 5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047750" y="3163729"/>
            <a:ext cx="12363450" cy="1257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957"/>
              </a:lnSpc>
              <a:buNone/>
            </a:pPr>
            <a:r>
              <a:rPr lang="en-US" sz="9600" b="1" kern="0" spc="-19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</a:t>
            </a:r>
            <a:endParaRPr lang="en-US" sz="9600" dirty="0"/>
          </a:p>
        </p:txBody>
      </p:sp>
      <p:sp>
        <p:nvSpPr>
          <p:cNvPr id="6" name="Shape 4"/>
          <p:cNvSpPr/>
          <p:nvPr/>
        </p:nvSpPr>
        <p:spPr>
          <a:xfrm>
            <a:off x="1047750" y="5684996"/>
            <a:ext cx="8572500" cy="9525"/>
          </a:xfrm>
          <a:prstGeom prst="rect">
            <a:avLst/>
          </a:prstGeom>
          <a:solidFill>
            <a:srgbClr val="CCCCFF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47750" y="5110639"/>
            <a:ext cx="685800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A3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885950" y="5049679"/>
            <a:ext cx="3955387" cy="540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24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Architectural evolution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1047750" y="6461284"/>
            <a:ext cx="8572500" cy="9525"/>
          </a:xfrm>
          <a:prstGeom prst="rect">
            <a:avLst/>
          </a:prstGeom>
          <a:solidFill>
            <a:srgbClr val="CCCCFF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47750" y="5886926"/>
            <a:ext cx="685800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A3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885950" y="5825966"/>
            <a:ext cx="3336167" cy="540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24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Antiphony: the idea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1047750" y="7237571"/>
            <a:ext cx="8572500" cy="9525"/>
          </a:xfrm>
          <a:prstGeom prst="rect">
            <a:avLst/>
          </a:prstGeom>
          <a:solidFill>
            <a:srgbClr val="CCCCFF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47750" y="6663214"/>
            <a:ext cx="685800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A3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885950" y="6602254"/>
            <a:ext cx="3028390" cy="540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24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Antiphony: inside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1047750" y="8013859"/>
            <a:ext cx="8572500" cy="9525"/>
          </a:xfrm>
          <a:prstGeom prst="rect">
            <a:avLst/>
          </a:prstGeom>
          <a:solidFill>
            <a:srgbClr val="CCCCFF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47750" y="7439501"/>
            <a:ext cx="685800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A3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885950" y="7378541"/>
            <a:ext cx="4727710" cy="540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24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classifier ensemble</a:t>
            </a:r>
            <a:endParaRPr lang="en-US" sz="255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049250" y="933450"/>
            <a:ext cx="4000500" cy="8610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609600"/>
            <a:ext cx="523875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6765"/>
              </a:lnSpc>
              <a:buNone/>
            </a:pP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097280"/>
            <a:ext cx="4905375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930"/>
              </a:lnSpc>
              <a:buNone/>
            </a:pPr>
            <a:r>
              <a:rPr lang="en-US" sz="4500" b="1" kern="0" spc="-67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Got to Antiphony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2754630"/>
            <a:ext cx="523875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144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TEST MACRO-F1 PER STAGE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3482340"/>
            <a:ext cx="972383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174"/>
              </a:lnSpc>
              <a:buNone/>
            </a:pPr>
            <a:r>
              <a:rPr lang="en-US" sz="22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Flat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5068014" y="3375660"/>
            <a:ext cx="818436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621"/>
              </a:lnSpc>
              <a:buNone/>
            </a:pPr>
            <a:r>
              <a:rPr lang="en-US" sz="3000" b="1" dirty="0">
                <a:solidFill>
                  <a:srgbClr val="A3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47750" y="4263390"/>
            <a:ext cx="2288941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174"/>
              </a:lnSpc>
              <a:buNone/>
            </a:pPr>
            <a:r>
              <a:rPr lang="en-US" sz="22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Hierarchical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4859655" y="4156710"/>
            <a:ext cx="102679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621"/>
              </a:lnSpc>
              <a:buNone/>
            </a:pPr>
            <a:r>
              <a:rPr lang="en-US" sz="3000" b="1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0.821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047750" y="5044440"/>
            <a:ext cx="3547813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174"/>
              </a:lnSpc>
              <a:buNone/>
            </a:pPr>
            <a:r>
              <a:rPr lang="en-US" sz="22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Gated and decoupled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4859655" y="4937760"/>
            <a:ext cx="102679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621"/>
              </a:lnSpc>
              <a:buNone/>
            </a:pPr>
            <a:r>
              <a:rPr lang="en-US" sz="3000" b="1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0.834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047750" y="5825490"/>
            <a:ext cx="1997273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174"/>
              </a:lnSpc>
              <a:buNone/>
            </a:pPr>
            <a:r>
              <a:rPr lang="en-US" sz="22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Antiphony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4859655" y="5718810"/>
            <a:ext cx="102679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621"/>
              </a:lnSpc>
              <a:buNone/>
            </a:pPr>
            <a:r>
              <a:rPr lang="en-US" sz="300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0.862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047750" y="6766560"/>
            <a:ext cx="4905375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733"/>
              </a:lnSpc>
              <a:buNone/>
            </a:pPr>
            <a:r>
              <a:rPr lang="en-US" sz="2250" i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“Each stage fixed the previous stage’s failure. The remaining failure was that the two speakers were mixed together.”</a:t>
            </a:r>
            <a:endParaRPr lang="en-US" sz="225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102043"/>
            <a:ext cx="11144250" cy="7778115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4931748" y="9627870"/>
            <a:ext cx="2539353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Antiphony · Group 10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609600"/>
            <a:ext cx="15192375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6765"/>
              </a:lnSpc>
              <a:buNone/>
            </a:pP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097280"/>
            <a:ext cx="1519237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930"/>
              </a:lnSpc>
              <a:buNone/>
            </a:pPr>
            <a:r>
              <a:rPr lang="en-US" sz="4500" b="1" kern="0" spc="-67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Got to Antiphony: Stage by Stage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4040505"/>
            <a:ext cx="4060031" cy="6877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203"/>
              </a:lnSpc>
              <a:buNone/>
            </a:pPr>
            <a:r>
              <a:rPr lang="en-US" sz="3300" b="1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0.70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1047750" y="4804410"/>
            <a:ext cx="3690937" cy="1190625"/>
          </a:xfrm>
          <a:prstGeom prst="rect">
            <a:avLst/>
          </a:prstGeom>
          <a:solidFill>
            <a:srgbClr val="CCC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47750" y="6109335"/>
            <a:ext cx="4060031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144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 · FLAT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47750" y="6577965"/>
            <a:ext cx="3801666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189"/>
              </a:lnSpc>
              <a:buNone/>
            </a:pPr>
            <a:r>
              <a:rPr lang="en-US" sz="19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 tokens; ending truncated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214938" y="2602230"/>
            <a:ext cx="4060031" cy="6877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203"/>
              </a:lnSpc>
              <a:buNone/>
            </a:pPr>
            <a:r>
              <a:rPr lang="en-US" sz="3300" b="1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0.821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5214938" y="3366135"/>
            <a:ext cx="3690937" cy="2628900"/>
          </a:xfrm>
          <a:prstGeom prst="rect">
            <a:avLst/>
          </a:prstGeom>
          <a:solidFill>
            <a:srgbClr val="A3A3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214938" y="6109335"/>
            <a:ext cx="4060031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144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 · HIERARCHICAL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214938" y="6577965"/>
            <a:ext cx="3801666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4189"/>
              </a:lnSpc>
              <a:buNone/>
            </a:pPr>
            <a:r>
              <a:rPr lang="en-US" sz="19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× 64 tokens; DeBERTa + back-translation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382125" y="2122170"/>
            <a:ext cx="4060031" cy="6877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203"/>
              </a:lnSpc>
              <a:buNone/>
            </a:pPr>
            <a:r>
              <a:rPr lang="en-US" sz="3300" b="1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0.834</a:t>
            </a:r>
            <a:endParaRPr lang="en-US" sz="3300" dirty="0"/>
          </a:p>
        </p:txBody>
      </p:sp>
      <p:sp>
        <p:nvSpPr>
          <p:cNvPr id="13" name="Shape 11"/>
          <p:cNvSpPr/>
          <p:nvPr/>
        </p:nvSpPr>
        <p:spPr>
          <a:xfrm>
            <a:off x="9382125" y="2886075"/>
            <a:ext cx="3690937" cy="2790825"/>
          </a:xfrm>
          <a:prstGeom prst="rect">
            <a:avLst/>
          </a:prstGeom>
          <a:solidFill>
            <a:srgbClr val="A3A3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382125" y="5791200"/>
            <a:ext cx="4060031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144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 · GATED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382125" y="6259830"/>
            <a:ext cx="3801666" cy="10039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189"/>
              </a:lnSpc>
              <a:buNone/>
            </a:pPr>
            <a:r>
              <a:rPr lang="en-US" sz="19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Last-Persuadee-turn gate, RoBERTa; modifier head dropped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3549313" y="2106930"/>
            <a:ext cx="4060031" cy="6877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203"/>
              </a:lnSpc>
              <a:buNone/>
            </a:pPr>
            <a:r>
              <a:rPr lang="en-US" sz="330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0.862</a:t>
            </a:r>
            <a:endParaRPr lang="en-US" sz="3300" dirty="0"/>
          </a:p>
        </p:txBody>
      </p:sp>
      <p:sp>
        <p:nvSpPr>
          <p:cNvPr id="17" name="Shape 15"/>
          <p:cNvSpPr/>
          <p:nvPr/>
        </p:nvSpPr>
        <p:spPr>
          <a:xfrm>
            <a:off x="13549313" y="2870835"/>
            <a:ext cx="3690937" cy="3124200"/>
          </a:xfrm>
          <a:prstGeom prst="rect">
            <a:avLst/>
          </a:prstGeom>
          <a:solidFill>
            <a:srgbClr val="2929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3549313" y="6109335"/>
            <a:ext cx="4060031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144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 · ANTIPHONY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549313" y="6577965"/>
            <a:ext cx="3801666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189"/>
              </a:lnSpc>
              <a:buNone/>
            </a:pPr>
            <a:r>
              <a:rPr lang="en-US" sz="19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Role-pure dual streams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047750" y="7701915"/>
            <a:ext cx="1781175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144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 · THREE BUGS FOUND AND FIXED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47750" y="8227695"/>
            <a:ext cx="5518107" cy="510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778"/>
              </a:lnSpc>
              <a:buNone/>
            </a:pPr>
            <a:r>
              <a:rPr lang="en-US" sz="240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 metric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047750" y="8776335"/>
            <a:ext cx="5166954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21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Chosen on pos_label="yes" F1, so an all-yes model scored 1.0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6635711" y="8227695"/>
            <a:ext cx="5518107" cy="510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778"/>
              </a:lnSpc>
              <a:buNone/>
            </a:pPr>
            <a:r>
              <a:rPr lang="en-US" sz="240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spikes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635711" y="8776335"/>
            <a:ext cx="5166954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21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inverse-frequency weights on 13 conditional examples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2223671" y="8227695"/>
            <a:ext cx="5518107" cy="510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778"/>
              </a:lnSpc>
              <a:buNone/>
            </a:pPr>
            <a:r>
              <a:rPr lang="en-US" sz="240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Glued speaker tags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2223671" y="8776335"/>
            <a:ext cx="5166954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21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57.5% glued to newlines, corrupting 15.9% of augmented rows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14931748" y="9627870"/>
            <a:ext cx="2539353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Antiphony · Group 10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609600"/>
            <a:ext cx="628650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6765"/>
              </a:lnSpc>
              <a:buNone/>
            </a:pP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097280"/>
            <a:ext cx="62865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930"/>
              </a:lnSpc>
              <a:buNone/>
            </a:pPr>
            <a:r>
              <a:rPr lang="en-US" sz="4500" b="1" kern="0" spc="-67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Antiphony: The Idea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2125980"/>
            <a:ext cx="6096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372"/>
              </a:lnSpc>
              <a:buNone/>
            </a:pPr>
            <a:r>
              <a:rPr lang="en-US" sz="225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638300" y="2125980"/>
            <a:ext cx="260955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372"/>
              </a:lnSpc>
              <a:buNone/>
            </a:pPr>
            <a:r>
              <a:rPr lang="en-US" sz="22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 each turn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047750" y="2707005"/>
            <a:ext cx="6096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372"/>
              </a:lnSpc>
              <a:buNone/>
            </a:pPr>
            <a:r>
              <a:rPr lang="en-US" sz="225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638300" y="2707005"/>
            <a:ext cx="549636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372"/>
              </a:lnSpc>
              <a:buNone/>
            </a:pPr>
            <a:r>
              <a:rPr lang="en-US" sz="22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the turns by speaker, order kept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047750" y="3288030"/>
            <a:ext cx="60960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372"/>
              </a:lnSpc>
              <a:buNone/>
            </a:pPr>
            <a:r>
              <a:rPr lang="en-US" sz="225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638300" y="3288030"/>
            <a:ext cx="5278184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372"/>
              </a:lnSpc>
              <a:buNone/>
            </a:pPr>
            <a:r>
              <a:rPr lang="en-US" sz="22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speaker gets its own small Transformer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047750" y="4240530"/>
            <a:ext cx="609600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372"/>
              </a:lnSpc>
              <a:buNone/>
            </a:pPr>
            <a:r>
              <a:rPr lang="en-US" sz="225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638300" y="4240530"/>
            <a:ext cx="5278184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372"/>
              </a:lnSpc>
              <a:buNone/>
            </a:pPr>
            <a:r>
              <a:rPr lang="en-US" sz="22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Directional cross-attention: the Persuadee asks, the Persuader answers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047750" y="5564505"/>
            <a:ext cx="609600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372"/>
              </a:lnSpc>
              <a:buNone/>
            </a:pPr>
            <a:r>
              <a:rPr lang="en-US" sz="225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638300" y="5564505"/>
            <a:ext cx="5278184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372"/>
              </a:lnSpc>
              <a:buNone/>
            </a:pPr>
            <a:r>
              <a:rPr lang="en-US" sz="22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GRU tracks commitment in turn order; attention pooling picks the salient turns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047750" y="6888480"/>
            <a:ext cx="60960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372"/>
              </a:lnSpc>
              <a:buNone/>
            </a:pPr>
            <a:r>
              <a:rPr lang="en-US" sz="225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638300" y="6888480"/>
            <a:ext cx="5278184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372"/>
              </a:lnSpc>
              <a:buNone/>
            </a:pPr>
            <a:r>
              <a:rPr lang="en-US" sz="22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views are combined; a classifier predicts yes / no</a:t>
            </a:r>
            <a:endParaRPr lang="en-US" sz="225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2111" y="609600"/>
            <a:ext cx="8045529" cy="8762881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4931748" y="9627870"/>
            <a:ext cx="2539353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Antiphony · Group 10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609600"/>
            <a:ext cx="15192375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6765"/>
              </a:lnSpc>
              <a:buNone/>
            </a:pP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097280"/>
            <a:ext cx="1519237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930"/>
              </a:lnSpc>
              <a:buNone/>
            </a:pPr>
            <a:r>
              <a:rPr lang="en-US" sz="4500" b="1" kern="0" spc="-67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Antiphony: Directional Cross-Attention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2068830"/>
            <a:ext cx="4905375" cy="929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700" i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“Given what was argued, how is the decider responding?”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47750" y="3246120"/>
            <a:ext cx="523875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174"/>
              </a:lnSpc>
              <a:buNone/>
            </a:pPr>
            <a:r>
              <a:rPr lang="en-US" sz="2250" b="1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Persuadee → queries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047750" y="3746183"/>
            <a:ext cx="4905375" cy="5041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21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= H̃</a:t>
            </a:r>
            <a:r>
              <a:rPr lang="en-US" sz="1800" baseline="300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(D)</a:t>
            </a:r>
            <a:r>
              <a:rPr lang="en-US" sz="21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r>
              <a:rPr lang="en-US" sz="1800" baseline="-400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r>
              <a:rPr lang="en-US" sz="21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The decider asks.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47750" y="4497943"/>
            <a:ext cx="523875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174"/>
              </a:lnSpc>
              <a:buNone/>
            </a:pPr>
            <a:r>
              <a:rPr lang="en-US" sz="2250" b="1" dirty="0">
                <a:solidFill>
                  <a:srgbClr val="AA0B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Persuader → keys, values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047750" y="4998006"/>
            <a:ext cx="4905375" cy="8165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21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K, V from H̃</a:t>
            </a:r>
            <a:r>
              <a:rPr lang="en-US" sz="1800" baseline="300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(P) </a:t>
            </a:r>
            <a:r>
              <a:rPr lang="en-US" sz="21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The arguments answer.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047750" y="6062186"/>
            <a:ext cx="523875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174"/>
              </a:lnSpc>
              <a:buNone/>
            </a:pPr>
            <a:r>
              <a:rPr lang="en-US" sz="225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047750" y="6562249"/>
            <a:ext cx="4905375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21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= AV, plus a residual from the Persuadee stream, 4 heads</a:t>
            </a:r>
            <a:endParaRPr lang="en-US" sz="21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2068830"/>
            <a:ext cx="10858500" cy="5979557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931748" y="9627870"/>
            <a:ext cx="2539353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Antiphony · Group 10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476250"/>
            <a:ext cx="6809304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3400" y="4188619"/>
            <a:ext cx="400050" cy="400050"/>
          </a:xfrm>
          <a:prstGeom prst="rect">
            <a:avLst/>
          </a:prstGeom>
          <a:solidFill>
            <a:srgbClr val="2929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95300" y="4188619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lnSpc>
                <a:spcPct val="13562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533400" y="6492954"/>
            <a:ext cx="400050" cy="400050"/>
          </a:xfrm>
          <a:prstGeom prst="rect">
            <a:avLst/>
          </a:prstGeom>
          <a:solidFill>
            <a:srgbClr val="A3A3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95300" y="6492954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lnSpc>
                <a:spcPct val="135625"/>
              </a:lnSpc>
              <a:buNone/>
            </a:pPr>
            <a:r>
              <a:rPr lang="en-US" sz="210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8619054" y="1097280"/>
            <a:ext cx="9483316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930"/>
              </a:lnSpc>
              <a:buNone/>
            </a:pPr>
            <a:r>
              <a:rPr lang="en-US" sz="4500" b="1" kern="0" spc="-67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Antiphony: Inside</a:t>
            </a:r>
            <a:endParaRPr lang="en-US" sz="4500" dirty="0"/>
          </a:p>
        </p:txBody>
      </p:sp>
      <p:sp>
        <p:nvSpPr>
          <p:cNvPr id="9" name="Text 6"/>
          <p:cNvSpPr/>
          <p:nvPr/>
        </p:nvSpPr>
        <p:spPr>
          <a:xfrm>
            <a:off x="8619054" y="2164080"/>
            <a:ext cx="333970" cy="544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273"/>
              </a:lnSpc>
              <a:buNone/>
            </a:pPr>
            <a:r>
              <a:rPr lang="en-US" sz="285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850" dirty="0"/>
          </a:p>
        </p:txBody>
      </p:sp>
      <p:sp>
        <p:nvSpPr>
          <p:cNvPr id="10" name="Text 7"/>
          <p:cNvSpPr/>
          <p:nvPr/>
        </p:nvSpPr>
        <p:spPr>
          <a:xfrm>
            <a:off x="9105424" y="2164080"/>
            <a:ext cx="5592235" cy="544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273"/>
              </a:lnSpc>
              <a:buNone/>
            </a:pPr>
            <a:r>
              <a:rPr lang="en-US" sz="28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= H̃</a:t>
            </a:r>
            <a:r>
              <a:rPr lang="en-US" sz="1800" baseline="300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(D)</a:t>
            </a:r>
            <a:r>
              <a:rPr lang="en-US" sz="28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r>
              <a:rPr lang="en-US" sz="1800" baseline="-400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r>
              <a:rPr lang="en-US" sz="28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with K, V from H̃</a:t>
            </a:r>
            <a:r>
              <a:rPr lang="en-US" sz="1800" baseline="300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(P)</a:t>
            </a:r>
            <a:endParaRPr lang="en-US" sz="2850" dirty="0"/>
          </a:p>
        </p:txBody>
      </p:sp>
      <p:sp>
        <p:nvSpPr>
          <p:cNvPr id="11" name="Text 8"/>
          <p:cNvSpPr/>
          <p:nvPr/>
        </p:nvSpPr>
        <p:spPr>
          <a:xfrm>
            <a:off x="8619054" y="2880360"/>
            <a:ext cx="333970" cy="544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273"/>
              </a:lnSpc>
              <a:buNone/>
            </a:pPr>
            <a:r>
              <a:rPr lang="en-US" sz="285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850" dirty="0"/>
          </a:p>
        </p:txBody>
      </p:sp>
      <p:sp>
        <p:nvSpPr>
          <p:cNvPr id="12" name="Text 9"/>
          <p:cNvSpPr/>
          <p:nvPr/>
        </p:nvSpPr>
        <p:spPr>
          <a:xfrm>
            <a:off x="9105424" y="2880360"/>
            <a:ext cx="4139398" cy="544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273"/>
              </a:lnSpc>
              <a:buNone/>
            </a:pPr>
            <a:r>
              <a:rPr lang="en-US" sz="28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= softmax(QKᵀ / √d</a:t>
            </a:r>
            <a:r>
              <a:rPr lang="en-US" sz="1800" baseline="-400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r>
              <a:rPr lang="en-US" sz="28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2850" dirty="0"/>
          </a:p>
        </p:txBody>
      </p:sp>
      <p:sp>
        <p:nvSpPr>
          <p:cNvPr id="13" name="Text 10"/>
          <p:cNvSpPr/>
          <p:nvPr/>
        </p:nvSpPr>
        <p:spPr>
          <a:xfrm>
            <a:off x="8619054" y="3596640"/>
            <a:ext cx="318373" cy="544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273"/>
              </a:lnSpc>
              <a:buNone/>
            </a:pPr>
            <a:r>
              <a:rPr lang="en-US" sz="2850" b="1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850" dirty="0"/>
          </a:p>
        </p:txBody>
      </p:sp>
      <p:sp>
        <p:nvSpPr>
          <p:cNvPr id="14" name="Text 11"/>
          <p:cNvSpPr/>
          <p:nvPr/>
        </p:nvSpPr>
        <p:spPr>
          <a:xfrm>
            <a:off x="9089827" y="3596640"/>
            <a:ext cx="4610231" cy="544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273"/>
              </a:lnSpc>
              <a:buNone/>
            </a:pPr>
            <a:r>
              <a:rPr lang="en-US" sz="28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 = [h</a:t>
            </a:r>
            <a:r>
              <a:rPr lang="en-US" sz="1800" baseline="-400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</a:t>
            </a:r>
            <a:r>
              <a:rPr lang="en-US" sz="28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p] → 2-layer MLP</a:t>
            </a:r>
            <a:endParaRPr lang="en-US" sz="2850" dirty="0"/>
          </a:p>
        </p:txBody>
      </p:sp>
      <p:sp>
        <p:nvSpPr>
          <p:cNvPr id="15" name="Text 12"/>
          <p:cNvSpPr/>
          <p:nvPr/>
        </p:nvSpPr>
        <p:spPr>
          <a:xfrm>
            <a:off x="8619054" y="4541520"/>
            <a:ext cx="9483316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144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619054" y="4972050"/>
            <a:ext cx="9483316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CB-Focal (γ = 2, β = 0.999) + 0.3 × SupCon (τ = 0.1)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8619054" y="5631180"/>
            <a:ext cx="9483316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144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STREAMS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8619054" y="6061710"/>
            <a:ext cx="8879832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733"/>
              </a:lnSpc>
              <a:buNone/>
            </a:pPr>
            <a:r>
              <a:rPr lang="en-US" sz="22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Transformer layers per role, last R = 20 turns per role, chronological</a:t>
            </a:r>
            <a:endParaRPr lang="en-US" sz="2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047750" y="1097280"/>
            <a:ext cx="1519237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930"/>
              </a:lnSpc>
              <a:buNone/>
            </a:pPr>
            <a:r>
              <a:rPr lang="en-US" sz="4500" b="1" kern="0" spc="-67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Antiphony: Design Refinement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2335530"/>
            <a:ext cx="8277225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144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BUDGET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2804160"/>
            <a:ext cx="8277225" cy="952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957"/>
              </a:lnSpc>
              <a:buNone/>
            </a:pPr>
            <a:r>
              <a:rPr lang="en-US" sz="720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2,048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047750" y="3832860"/>
            <a:ext cx="8277225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556"/>
              </a:lnSpc>
              <a:buNone/>
            </a:pPr>
            <a:r>
              <a:rPr lang="en-US" sz="24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 · U = 32 turns × L = 64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47750" y="4343400"/>
            <a:ext cx="8277225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210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covers 99.7% of tokens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715500" y="2335530"/>
            <a:ext cx="8277225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144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WINDOW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715500" y="2804160"/>
            <a:ext cx="8277225" cy="952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957"/>
              </a:lnSpc>
              <a:buNone/>
            </a:pPr>
            <a:r>
              <a:rPr lang="en-US" sz="720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20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9715500" y="3832860"/>
            <a:ext cx="8277225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556"/>
              </a:lnSpc>
              <a:buNone/>
            </a:pPr>
            <a:r>
              <a:rPr lang="en-US" sz="24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turns per role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715500" y="4343400"/>
            <a:ext cx="8277225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210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covers 98.8% of dialogues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047750" y="5356860"/>
            <a:ext cx="8277225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144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· T4 16 GB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47750" y="5825490"/>
            <a:ext cx="8277225" cy="952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957"/>
              </a:lnSpc>
              <a:buNone/>
            </a:pPr>
            <a:r>
              <a:rPr lang="en-US" sz="720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= 2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1047750" y="6854190"/>
            <a:ext cx="8277225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556"/>
              </a:lnSpc>
              <a:buNone/>
            </a:pPr>
            <a:r>
              <a:rPr lang="en-US" sz="24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gradient checkpointing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047750" y="7364730"/>
            <a:ext cx="8277225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210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60% less memory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715500" y="5356860"/>
            <a:ext cx="8277225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144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715500" y="5825490"/>
            <a:ext cx="8277225" cy="952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957"/>
              </a:lnSpc>
              <a:buNone/>
            </a:pPr>
            <a:r>
              <a:rPr lang="en-US" sz="720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ms</a:t>
            </a:r>
            <a:endParaRPr lang="en-US" sz="7200" dirty="0"/>
          </a:p>
        </p:txBody>
      </p:sp>
      <p:sp>
        <p:nvSpPr>
          <p:cNvPr id="18" name="Text 16"/>
          <p:cNvSpPr/>
          <p:nvPr/>
        </p:nvSpPr>
        <p:spPr>
          <a:xfrm>
            <a:off x="9715500" y="6854190"/>
            <a:ext cx="8277225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556"/>
              </a:lnSpc>
              <a:buNone/>
            </a:pPr>
            <a:r>
              <a:rPr lang="en-US" sz="24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dialogue on GPU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715500" y="7364730"/>
            <a:ext cx="8277225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210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 ms on CPU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4931748" y="9627870"/>
            <a:ext cx="2539353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Antiphony · Group 10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047750" y="1097280"/>
            <a:ext cx="5101590" cy="2552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930"/>
              </a:lnSpc>
              <a:buNone/>
            </a:pPr>
            <a:r>
              <a:rPr lang="en-US" sz="4500" b="1" kern="0" spc="-67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Classifier: The 19-Member Ensemble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3878580"/>
            <a:ext cx="544830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144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4309110"/>
            <a:ext cx="1669852" cy="647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957"/>
              </a:lnSpc>
              <a:buNone/>
            </a:pPr>
            <a:r>
              <a:rPr lang="en-US" sz="4800" b="1" dirty="0">
                <a:solidFill>
                  <a:srgbClr val="AA0B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0.368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737247" y="4552950"/>
            <a:ext cx="3361408" cy="805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149"/>
              </a:lnSpc>
              <a:buNone/>
            </a:pPr>
            <a:r>
              <a:rPr lang="en-US" sz="19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macro-F1 on all 41 strategies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047750" y="5396865"/>
            <a:ext cx="5101590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21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So: 11 categories as the main target, 41 strategies as a helper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47750" y="6383655"/>
            <a:ext cx="544830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144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OF 19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47750" y="6814185"/>
            <a:ext cx="5101590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21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fine-tuned encoders · 8 few-shot companions · 2 TF-IDF · 2 zero-shot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047750" y="7827645"/>
            <a:ext cx="544830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144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47750" y="8258175"/>
            <a:ext cx="5448300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21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Asymmetric Loss on both heads</a:t>
            </a:r>
            <a:endParaRPr lang="en-US" sz="21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9754" y="609600"/>
            <a:ext cx="10708243" cy="8762881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4931748" y="9627870"/>
            <a:ext cx="2539353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Antiphony · Group 10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047750" y="1097280"/>
            <a:ext cx="1519237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930"/>
              </a:lnSpc>
              <a:buNone/>
            </a:pPr>
            <a:r>
              <a:rPr lang="en-US" sz="4500" b="1" kern="0" spc="-67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Classifier: Decision Layer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2106930"/>
            <a:ext cx="15131475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macro-F1 · Table 5.9 · bars start at 0.50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2563178"/>
            <a:ext cx="4924425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probability average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47750" y="2976563"/>
            <a:ext cx="4924425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Arithmetic mean of 19 members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753100" y="2756535"/>
            <a:ext cx="4000500" cy="381000"/>
          </a:xfrm>
          <a:prstGeom prst="rect">
            <a:avLst/>
          </a:prstGeom>
          <a:solidFill>
            <a:srgbClr val="A3A3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982200" y="2725579"/>
            <a:ext cx="945475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174"/>
              </a:lnSpc>
              <a:buNone/>
            </a:pPr>
            <a:r>
              <a:rPr lang="en-US" sz="225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0.5420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1080076" y="2769870"/>
            <a:ext cx="994291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47750" y="3325178"/>
            <a:ext cx="4924425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stacker, untuned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047750" y="3738563"/>
            <a:ext cx="4924425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trees, depth 6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753100" y="3518535"/>
            <a:ext cx="3133725" cy="381000"/>
          </a:xfrm>
          <a:prstGeom prst="rect">
            <a:avLst/>
          </a:prstGeom>
          <a:solidFill>
            <a:srgbClr val="CCC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15425" y="3487579"/>
            <a:ext cx="945475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174"/>
              </a:lnSpc>
              <a:buNone/>
            </a:pPr>
            <a:r>
              <a:rPr lang="en-US" sz="225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0.5329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0213301" y="3531870"/>
            <a:ext cx="1058108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Deficient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47750" y="4087178"/>
            <a:ext cx="4924425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stacker, tuned logits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047750" y="4500563"/>
            <a:ext cx="4924425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features, 300 trees, depth 4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753100" y="4280535"/>
            <a:ext cx="4838700" cy="381000"/>
          </a:xfrm>
          <a:prstGeom prst="rect">
            <a:avLst/>
          </a:prstGeom>
          <a:solidFill>
            <a:srgbClr val="A3A3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820400" y="4249579"/>
            <a:ext cx="945475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174"/>
              </a:lnSpc>
              <a:buNone/>
            </a:pPr>
            <a:r>
              <a:rPr lang="en-US" sz="225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0.5508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1918276" y="4293870"/>
            <a:ext cx="1533513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Documented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47750" y="4849178"/>
            <a:ext cx="4924425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stacker, tuned rich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047750" y="5262563"/>
            <a:ext cx="4924425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 features, 500 trees, depth 4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753100" y="5042535"/>
            <a:ext cx="4505325" cy="381000"/>
          </a:xfrm>
          <a:prstGeom prst="rect">
            <a:avLst/>
          </a:prstGeom>
          <a:solidFill>
            <a:srgbClr val="A3A3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487025" y="5011579"/>
            <a:ext cx="945475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174"/>
              </a:lnSpc>
              <a:buNone/>
            </a:pPr>
            <a:r>
              <a:rPr lang="en-US" sz="225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0.5473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11584901" y="5055870"/>
            <a:ext cx="1533513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Documented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47750" y="5611178"/>
            <a:ext cx="4924425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stacker-blend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047750" y="6024563"/>
            <a:ext cx="4924425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Logits stacker + power-mean blend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5753100" y="5804535"/>
            <a:ext cx="5886450" cy="381000"/>
          </a:xfrm>
          <a:prstGeom prst="rect">
            <a:avLst/>
          </a:prstGeom>
          <a:solidFill>
            <a:srgbClr val="A3A3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1868150" y="5773579"/>
            <a:ext cx="945475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174"/>
              </a:lnSpc>
              <a:buNone/>
            </a:pPr>
            <a:r>
              <a:rPr lang="en-US" sz="225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0.5618</a:t>
            </a:r>
            <a:endParaRPr lang="en-US" sz="2250" dirty="0"/>
          </a:p>
        </p:txBody>
      </p:sp>
      <p:sp>
        <p:nvSpPr>
          <p:cNvPr id="29" name="Text 27"/>
          <p:cNvSpPr/>
          <p:nvPr/>
        </p:nvSpPr>
        <p:spPr>
          <a:xfrm>
            <a:off x="12966026" y="5817870"/>
            <a:ext cx="1245037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Runner-up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047750" y="6373178"/>
            <a:ext cx="4924425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Calibrated power-mean blend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1047750" y="6786563"/>
            <a:ext cx="4924425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Platt-calibrated, q = +2.0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5753100" y="6566535"/>
            <a:ext cx="6819900" cy="381000"/>
          </a:xfrm>
          <a:prstGeom prst="rect">
            <a:avLst/>
          </a:prstGeom>
          <a:solidFill>
            <a:srgbClr val="2929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2801600" y="6535579"/>
            <a:ext cx="945475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174"/>
              </a:lnSpc>
              <a:buNone/>
            </a:pPr>
            <a:r>
              <a:rPr lang="en-US" sz="225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0.5716</a:t>
            </a:r>
            <a:endParaRPr lang="en-US" sz="2250" dirty="0"/>
          </a:p>
        </p:txBody>
      </p:sp>
      <p:sp>
        <p:nvSpPr>
          <p:cNvPr id="34" name="Text 32"/>
          <p:cNvSpPr/>
          <p:nvPr/>
        </p:nvSpPr>
        <p:spPr>
          <a:xfrm>
            <a:off x="13899476" y="6579870"/>
            <a:ext cx="980361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5565636" y="2487930"/>
            <a:ext cx="2724150" cy="8001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957"/>
              </a:lnSpc>
              <a:buNone/>
            </a:pPr>
            <a:r>
              <a:rPr lang="en-US" sz="600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50–70</a:t>
            </a:r>
            <a:endParaRPr lang="en-US" sz="6000" dirty="0"/>
          </a:p>
        </p:txBody>
      </p:sp>
      <p:sp>
        <p:nvSpPr>
          <p:cNvPr id="36" name="Text 34"/>
          <p:cNvSpPr/>
          <p:nvPr/>
        </p:nvSpPr>
        <p:spPr>
          <a:xfrm>
            <a:off x="15565636" y="3364230"/>
            <a:ext cx="2552700" cy="1838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21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combiners searched with grouped cross-validation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14931748" y="9627870"/>
            <a:ext cx="2539353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Antiphony · Group 10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C1C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5C5C99">
                  <a:alpha val="55000"/>
                </a:srgbClr>
              </a:gs>
              <a:gs pos="70000">
                <a:srgbClr val="5C5C99">
                  <a:alpha val="0"/>
                </a:srgbClr>
              </a:gs>
            </a:gsLst>
            <a:path path="circle">
              <a:fillToRect l="88000" t="12000" r="12000" b="88000"/>
            </a:path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47750" y="1857375"/>
            <a:ext cx="533400" cy="28575"/>
          </a:xfrm>
          <a:prstGeom prst="rect">
            <a:avLst/>
          </a:prstGeom>
          <a:solidFill>
            <a:srgbClr val="CCC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752600" y="1679734"/>
            <a:ext cx="1889224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149"/>
              </a:lnSpc>
              <a:buNone/>
            </a:pPr>
            <a:r>
              <a:rPr lang="en-US" sz="1950" kern="0" spc="234" dirty="0">
                <a:solidFill>
                  <a:srgbClr val="CC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 OF 5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047750" y="2387441"/>
            <a:ext cx="12363450" cy="1257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957"/>
              </a:lnSpc>
              <a:buNone/>
            </a:pPr>
            <a:r>
              <a:rPr lang="en-US" sz="9600" b="1" kern="0" spc="-19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9600" dirty="0"/>
          </a:p>
        </p:txBody>
      </p:sp>
      <p:sp>
        <p:nvSpPr>
          <p:cNvPr id="6" name="Shape 4"/>
          <p:cNvSpPr/>
          <p:nvPr/>
        </p:nvSpPr>
        <p:spPr>
          <a:xfrm>
            <a:off x="1047750" y="4908709"/>
            <a:ext cx="8572500" cy="9525"/>
          </a:xfrm>
          <a:prstGeom prst="rect">
            <a:avLst/>
          </a:prstGeom>
          <a:solidFill>
            <a:srgbClr val="CCCCFF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47750" y="4334351"/>
            <a:ext cx="685800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A3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885950" y="4273391"/>
            <a:ext cx="1586686" cy="540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24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Intention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1047750" y="5684996"/>
            <a:ext cx="8572500" cy="9525"/>
          </a:xfrm>
          <a:prstGeom prst="rect">
            <a:avLst/>
          </a:prstGeom>
          <a:solidFill>
            <a:srgbClr val="CCCCFF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47750" y="5110639"/>
            <a:ext cx="685800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A3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885950" y="5049679"/>
            <a:ext cx="1398222" cy="540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24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1047750" y="6461284"/>
            <a:ext cx="8572500" cy="9525"/>
          </a:xfrm>
          <a:prstGeom prst="rect">
            <a:avLst/>
          </a:prstGeom>
          <a:solidFill>
            <a:srgbClr val="CCCCFF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47750" y="5886926"/>
            <a:ext cx="685800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A3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885950" y="5825966"/>
            <a:ext cx="1443145" cy="540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24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1047750" y="7237571"/>
            <a:ext cx="8572500" cy="9525"/>
          </a:xfrm>
          <a:prstGeom prst="rect">
            <a:avLst/>
          </a:prstGeom>
          <a:solidFill>
            <a:srgbClr val="CCCCFF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47750" y="6663214"/>
            <a:ext cx="685800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A3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885950" y="6602254"/>
            <a:ext cx="2560701" cy="540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24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Sufficiency gap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1047750" y="8013859"/>
            <a:ext cx="8572500" cy="9525"/>
          </a:xfrm>
          <a:prstGeom prst="rect">
            <a:avLst/>
          </a:prstGeom>
          <a:solidFill>
            <a:srgbClr val="CCCCFF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47750" y="7439501"/>
            <a:ext cx="685800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A3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885950" y="7378541"/>
            <a:ext cx="4284905" cy="540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24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Robustness and forensics</a:t>
            </a:r>
            <a:endParaRPr lang="en-US" sz="2550" dirty="0"/>
          </a:p>
        </p:txBody>
      </p:sp>
      <p:sp>
        <p:nvSpPr>
          <p:cNvPr id="21" name="Shape 19"/>
          <p:cNvSpPr/>
          <p:nvPr/>
        </p:nvSpPr>
        <p:spPr>
          <a:xfrm>
            <a:off x="1047750" y="8790146"/>
            <a:ext cx="8572500" cy="9525"/>
          </a:xfrm>
          <a:prstGeom prst="rect">
            <a:avLst/>
          </a:prstGeom>
          <a:solidFill>
            <a:srgbClr val="CCCCFF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47750" y="8215789"/>
            <a:ext cx="685800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A3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885950" y="8154829"/>
            <a:ext cx="1941481" cy="540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24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Havn demo</a:t>
            </a:r>
            <a:endParaRPr lang="en-US" sz="255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049250" y="933450"/>
            <a:ext cx="4000500" cy="86106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047750" y="1097280"/>
            <a:ext cx="146685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930"/>
              </a:lnSpc>
              <a:buNone/>
            </a:pPr>
            <a:r>
              <a:rPr lang="en-US" sz="4500" b="1" kern="0" spc="-67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Intention Results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2169795"/>
            <a:ext cx="228600" cy="228600"/>
          </a:xfrm>
          <a:prstGeom prst="rect">
            <a:avLst/>
          </a:prstGeom>
          <a:solidFill>
            <a:srgbClr val="A3A3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371600" y="2122170"/>
            <a:ext cx="3142015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Single-stream baseline (v13)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707850" y="2169795"/>
            <a:ext cx="228600" cy="228600"/>
          </a:xfrm>
          <a:prstGeom prst="rect">
            <a:avLst/>
          </a:prstGeom>
          <a:solidFill>
            <a:srgbClr val="2929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31700" y="2122170"/>
            <a:ext cx="1819751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Antiphony (v14)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47750" y="7513320"/>
            <a:ext cx="7810500" cy="15240"/>
          </a:xfrm>
          <a:prstGeom prst="rect">
            <a:avLst/>
          </a:prstGeom>
          <a:solidFill>
            <a:srgbClr val="2929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762839" y="3630930"/>
            <a:ext cx="836771" cy="510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778"/>
              </a:lnSpc>
              <a:buNone/>
            </a:pPr>
            <a:r>
              <a:rPr lang="en-US" sz="2400" b="1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0.825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428750" y="4179570"/>
            <a:ext cx="1428750" cy="3333750"/>
          </a:xfrm>
          <a:prstGeom prst="rect">
            <a:avLst/>
          </a:prstGeom>
          <a:solidFill>
            <a:srgbClr val="A3A3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43989" y="2640330"/>
            <a:ext cx="836771" cy="510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778"/>
              </a:lnSpc>
              <a:buNone/>
            </a:pPr>
            <a:r>
              <a:rPr lang="en-US" sz="240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0.862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009900" y="3188970"/>
            <a:ext cx="1428750" cy="4324350"/>
          </a:xfrm>
          <a:prstGeom prst="rect">
            <a:avLst/>
          </a:prstGeom>
          <a:solidFill>
            <a:srgbClr val="2929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15739" y="3335655"/>
            <a:ext cx="836771" cy="510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778"/>
              </a:lnSpc>
              <a:buNone/>
            </a:pPr>
            <a:r>
              <a:rPr lang="en-US" sz="2400" b="1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0.836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581650" y="3884295"/>
            <a:ext cx="1428750" cy="3629025"/>
          </a:xfrm>
          <a:prstGeom prst="rect">
            <a:avLst/>
          </a:prstGeom>
          <a:solidFill>
            <a:srgbClr val="A3A3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496889" y="3097530"/>
            <a:ext cx="836771" cy="510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778"/>
              </a:lnSpc>
              <a:buNone/>
            </a:pPr>
            <a:r>
              <a:rPr lang="en-US" sz="240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0.845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7162800" y="3646170"/>
            <a:ext cx="1428750" cy="3867150"/>
          </a:xfrm>
          <a:prstGeom prst="rect">
            <a:avLst/>
          </a:prstGeom>
          <a:solidFill>
            <a:srgbClr val="2929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278255" y="7642860"/>
            <a:ext cx="3310890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5625"/>
              </a:lnSpc>
              <a:buNone/>
            </a:pPr>
            <a:r>
              <a:rPr lang="en-US" sz="21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2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5431155" y="7642860"/>
            <a:ext cx="3310890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5625"/>
              </a:lnSpc>
              <a:buNone/>
            </a:pPr>
            <a:r>
              <a:rPr lang="en-US" sz="21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3 strict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047750" y="8170545"/>
            <a:ext cx="859155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Macro-F1 · axis starts at 0.70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810750" y="3630930"/>
            <a:ext cx="817245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144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3, FINAL MODEL (ROBERTA)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810750" y="4213860"/>
            <a:ext cx="1563505" cy="8001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957"/>
              </a:lnSpc>
              <a:buNone/>
            </a:pPr>
            <a:r>
              <a:rPr lang="en-US" sz="600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0.78</a:t>
            </a:r>
            <a:endParaRPr lang="en-US" sz="6000" dirty="0"/>
          </a:p>
        </p:txBody>
      </p:sp>
      <p:sp>
        <p:nvSpPr>
          <p:cNvPr id="22" name="Text 20"/>
          <p:cNvSpPr/>
          <p:nvPr/>
        </p:nvSpPr>
        <p:spPr>
          <a:xfrm>
            <a:off x="9810750" y="5013960"/>
            <a:ext cx="1563505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149"/>
              </a:lnSpc>
              <a:buNone/>
            </a:pPr>
            <a:r>
              <a:rPr lang="en-US" sz="195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F1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1708368" y="4213860"/>
            <a:ext cx="1503783" cy="8001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957"/>
              </a:lnSpc>
              <a:buNone/>
            </a:pPr>
            <a:r>
              <a:rPr lang="en-US" sz="600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0.91</a:t>
            </a:r>
            <a:endParaRPr lang="en-US" sz="6000" dirty="0"/>
          </a:p>
        </p:txBody>
      </p:sp>
      <p:sp>
        <p:nvSpPr>
          <p:cNvPr id="24" name="Text 22"/>
          <p:cNvSpPr/>
          <p:nvPr/>
        </p:nvSpPr>
        <p:spPr>
          <a:xfrm>
            <a:off x="11708368" y="5013960"/>
            <a:ext cx="1503783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149"/>
              </a:lnSpc>
              <a:buNone/>
            </a:pPr>
            <a:r>
              <a:rPr lang="en-US" sz="195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F1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13551694" y="4213860"/>
            <a:ext cx="2403539" cy="8001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957"/>
              </a:lnSpc>
              <a:buNone/>
            </a:pPr>
            <a:r>
              <a:rPr lang="en-US" sz="600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86.9%</a:t>
            </a:r>
            <a:endParaRPr lang="en-US" sz="6000" dirty="0"/>
          </a:p>
        </p:txBody>
      </p:sp>
      <p:sp>
        <p:nvSpPr>
          <p:cNvPr id="26" name="Text 24"/>
          <p:cNvSpPr/>
          <p:nvPr/>
        </p:nvSpPr>
        <p:spPr>
          <a:xfrm>
            <a:off x="13551694" y="5013960"/>
            <a:ext cx="2403539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149"/>
              </a:lnSpc>
              <a:buNone/>
            </a:pPr>
            <a:r>
              <a:rPr lang="en-US" sz="195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9810750" y="5626418"/>
            <a:ext cx="7652385" cy="1078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973"/>
              </a:lnSpc>
              <a:buNone/>
            </a:pPr>
            <a:r>
              <a:rPr lang="en-US" sz="195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n = 153 dialogues · 70 / 15 / 15 split at dialogue level · Pass 2 Antiphony 0.860 with tuned threshold · baseline 0.829 tuned on Pass 3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9810750" y="6990398"/>
            <a:ext cx="7652385" cy="861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i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“Antiphony wins on both label sets, even against the baseline’s best threshold.”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14931748" y="9627870"/>
            <a:ext cx="2539353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Antiphony · Group 10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047750" y="1097280"/>
            <a:ext cx="146685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930"/>
              </a:lnSpc>
              <a:buNone/>
            </a:pPr>
            <a:r>
              <a:rPr lang="en-US" sz="4500" b="1" kern="0" spc="-67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Results Against the Human Ceiling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2202180"/>
            <a:ext cx="649605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144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ARC · TABLE 5.7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2956560"/>
            <a:ext cx="1848886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174"/>
              </a:lnSpc>
              <a:buNone/>
            </a:pPr>
            <a:r>
              <a:rPr lang="en-US" sz="22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 strategies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5907524" y="2804160"/>
            <a:ext cx="1121926" cy="6877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203"/>
              </a:lnSpc>
              <a:buNone/>
            </a:pPr>
            <a:r>
              <a:rPr lang="en-US" sz="3300" b="1" dirty="0">
                <a:solidFill>
                  <a:srgbClr val="AA0B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0.368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1047750" y="3834765"/>
            <a:ext cx="1933754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174"/>
              </a:lnSpc>
              <a:buNone/>
            </a:pPr>
            <a:r>
              <a:rPr lang="en-US" sz="22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categories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5907524" y="3682365"/>
            <a:ext cx="1121926" cy="6877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203"/>
              </a:lnSpc>
              <a:buNone/>
            </a:pPr>
            <a:r>
              <a:rPr lang="en-US" sz="3300" b="1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0.556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047750" y="4712970"/>
            <a:ext cx="144655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174"/>
              </a:lnSpc>
              <a:buNone/>
            </a:pPr>
            <a:r>
              <a:rPr lang="en-US" sz="22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v18 blend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4517350" y="4560570"/>
            <a:ext cx="2679490" cy="6877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203"/>
              </a:lnSpc>
              <a:buNone/>
            </a:pPr>
            <a:r>
              <a:rPr lang="en-US" sz="330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0.695 / 0.560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1047750" y="5400675"/>
            <a:ext cx="649605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macro-F1; last row micro / macro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001000" y="2202180"/>
            <a:ext cx="10163175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144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MICRO-F1 AGAINST THE HUMAN CEILING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001000" y="2747010"/>
            <a:ext cx="2598551" cy="11811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705"/>
              </a:lnSpc>
              <a:buNone/>
            </a:pPr>
            <a:r>
              <a:rPr lang="en-US" sz="900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9000" dirty="0"/>
          </a:p>
        </p:txBody>
      </p:sp>
      <p:sp>
        <p:nvSpPr>
          <p:cNvPr id="14" name="Text 12"/>
          <p:cNvSpPr/>
          <p:nvPr/>
        </p:nvSpPr>
        <p:spPr>
          <a:xfrm>
            <a:off x="10591920" y="3432810"/>
            <a:ext cx="695797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372"/>
              </a:lnSpc>
              <a:buNone/>
            </a:pPr>
            <a:r>
              <a:rPr lang="en-US" sz="22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0.706 micro-F1 = 89% of what humans agree on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8001000" y="4652010"/>
            <a:ext cx="7620000" cy="609600"/>
          </a:xfrm>
          <a:prstGeom prst="rect">
            <a:avLst/>
          </a:prstGeom>
          <a:solidFill>
            <a:srgbClr val="CCC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001000" y="4652010"/>
            <a:ext cx="6810375" cy="609600"/>
          </a:xfrm>
          <a:prstGeom prst="rect">
            <a:avLst/>
          </a:prstGeom>
          <a:solidFill>
            <a:srgbClr val="2929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3754755" y="4175760"/>
            <a:ext cx="2324564" cy="48101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35174"/>
              </a:lnSpc>
              <a:buNone/>
            </a:pPr>
            <a:r>
              <a:rPr lang="en-US" sz="225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0.706 best (v17)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8001000" y="5394960"/>
            <a:ext cx="207288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149"/>
              </a:lnSpc>
              <a:buNone/>
            </a:pPr>
            <a:r>
              <a:rPr lang="en-US" sz="195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3391079" y="5394960"/>
            <a:ext cx="2452914" cy="42195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36149"/>
              </a:lnSpc>
              <a:buNone/>
            </a:pPr>
            <a:r>
              <a:rPr lang="en-US" sz="195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0.79 human ceiling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047750" y="8641080"/>
            <a:ext cx="156972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973"/>
              </a:lnSpc>
              <a:buNone/>
            </a:pPr>
            <a:r>
              <a:rPr lang="en-US" sz="195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Blend 0.572 vs XGBoost 0.551 are validation macro-F1, not test. v17 (0.706 / 0.564) and v18 (0.695 / 0.560) are statistically tied: bootstrap 95% intervals overlap almost completely.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4931748" y="9627870"/>
            <a:ext cx="2539353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Antiphony · Group 10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047750" y="1097280"/>
            <a:ext cx="146685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930"/>
              </a:lnSpc>
              <a:buNone/>
            </a:pPr>
            <a:r>
              <a:rPr lang="en-US" sz="4500" b="1" kern="0" spc="-67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Transfer: Do Models Need the Whole Dialogue?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3348990"/>
            <a:ext cx="16192500" cy="15240"/>
          </a:xfrm>
          <a:prstGeom prst="rect">
            <a:avLst/>
          </a:prstGeom>
          <a:solidFill>
            <a:srgbClr val="2929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47750" y="2868930"/>
            <a:ext cx="8507283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144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 ROBERTA · MACRO-F1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954577" y="2868930"/>
            <a:ext cx="1600081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144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954709" y="2868930"/>
            <a:ext cx="1665684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144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LTR+M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020443" y="2868930"/>
            <a:ext cx="1561148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144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FHO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981641" y="2868930"/>
            <a:ext cx="133481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144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47750" y="4212908"/>
            <a:ext cx="16192500" cy="9525"/>
          </a:xfrm>
          <a:prstGeom prst="rect">
            <a:avLst/>
          </a:prstGeom>
          <a:solidFill>
            <a:srgbClr val="A3A3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47750" y="3535680"/>
            <a:ext cx="8507283" cy="5514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7240"/>
              </a:lnSpc>
              <a:buNone/>
            </a:pPr>
            <a:r>
              <a:rPr lang="en-US" sz="25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Canonical · N = 500 · test n = 75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9954577" y="3535680"/>
            <a:ext cx="1600081" cy="5514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7240"/>
              </a:lnSpc>
              <a:buNone/>
            </a:pPr>
            <a:r>
              <a:rPr lang="en-US" sz="255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0.933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11954709" y="3535680"/>
            <a:ext cx="1665684" cy="5514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7240"/>
              </a:lnSpc>
              <a:buNone/>
            </a:pPr>
            <a:r>
              <a:rPr lang="en-US" sz="25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0.933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4020443" y="3535680"/>
            <a:ext cx="1561148" cy="5514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7240"/>
              </a:lnSpc>
              <a:buNone/>
            </a:pPr>
            <a:r>
              <a:rPr lang="en-US" sz="25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0.771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5981641" y="3535680"/>
            <a:ext cx="1334810" cy="5514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7240"/>
              </a:lnSpc>
              <a:buNone/>
            </a:pPr>
            <a:r>
              <a:rPr lang="en-US" sz="2550" dirty="0">
                <a:solidFill>
                  <a:srgbClr val="A3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n/a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1047750" y="5065395"/>
            <a:ext cx="16192500" cy="9525"/>
          </a:xfrm>
          <a:prstGeom prst="rect">
            <a:avLst/>
          </a:prstGeom>
          <a:solidFill>
            <a:srgbClr val="A3A3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47750" y="4391978"/>
            <a:ext cx="8507283" cy="5476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7240"/>
              </a:lnSpc>
              <a:buNone/>
            </a:pPr>
            <a:r>
              <a:rPr lang="en-US" sz="25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Augmented · N = 700 · test n = 105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9954577" y="4391978"/>
            <a:ext cx="1600081" cy="5476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7240"/>
              </a:lnSpc>
              <a:buNone/>
            </a:pPr>
            <a:r>
              <a:rPr lang="en-US" sz="25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0.952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11954709" y="4391978"/>
            <a:ext cx="1665684" cy="5476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7240"/>
              </a:lnSpc>
              <a:buNone/>
            </a:pPr>
            <a:r>
              <a:rPr lang="en-US" sz="25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0.914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14020443" y="4391978"/>
            <a:ext cx="1561148" cy="5476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7240"/>
              </a:lnSpc>
              <a:buNone/>
            </a:pPr>
            <a:r>
              <a:rPr lang="en-US" sz="25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0.848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5981641" y="4391978"/>
            <a:ext cx="1334810" cy="5476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7240"/>
              </a:lnSpc>
              <a:buNone/>
            </a:pPr>
            <a:r>
              <a:rPr lang="en-US" sz="255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0.950</a:t>
            </a:r>
            <a:endParaRPr lang="en-US" sz="2550" dirty="0"/>
          </a:p>
        </p:txBody>
      </p:sp>
      <p:sp>
        <p:nvSpPr>
          <p:cNvPr id="22" name="Text 20"/>
          <p:cNvSpPr/>
          <p:nvPr/>
        </p:nvSpPr>
        <p:spPr>
          <a:xfrm>
            <a:off x="1047750" y="5244465"/>
            <a:ext cx="8507283" cy="5438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7240"/>
              </a:lnSpc>
              <a:buNone/>
            </a:pPr>
            <a:r>
              <a:rPr lang="en-US" sz="25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Reversal subset · test n = 30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9954577" y="5244465"/>
            <a:ext cx="1600081" cy="5438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7240"/>
              </a:lnSpc>
              <a:buNone/>
            </a:pPr>
            <a:r>
              <a:rPr lang="en-US" sz="25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1.000</a:t>
            </a:r>
            <a:endParaRPr lang="en-US" sz="2550" dirty="0"/>
          </a:p>
        </p:txBody>
      </p:sp>
      <p:sp>
        <p:nvSpPr>
          <p:cNvPr id="24" name="Text 22"/>
          <p:cNvSpPr/>
          <p:nvPr/>
        </p:nvSpPr>
        <p:spPr>
          <a:xfrm>
            <a:off x="11954709" y="5244465"/>
            <a:ext cx="1665684" cy="5438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7240"/>
              </a:lnSpc>
              <a:buNone/>
            </a:pPr>
            <a:r>
              <a:rPr lang="en-US" sz="25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0.967</a:t>
            </a:r>
            <a:endParaRPr lang="en-US" sz="2550" dirty="0"/>
          </a:p>
        </p:txBody>
      </p:sp>
      <p:sp>
        <p:nvSpPr>
          <p:cNvPr id="25" name="Text 23"/>
          <p:cNvSpPr/>
          <p:nvPr/>
        </p:nvSpPr>
        <p:spPr>
          <a:xfrm>
            <a:off x="14020443" y="5244465"/>
            <a:ext cx="1561148" cy="5438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7240"/>
              </a:lnSpc>
              <a:buNone/>
            </a:pPr>
            <a:r>
              <a:rPr lang="en-US" sz="25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0.866</a:t>
            </a:r>
            <a:endParaRPr lang="en-US" sz="2550" dirty="0"/>
          </a:p>
        </p:txBody>
      </p:sp>
      <p:sp>
        <p:nvSpPr>
          <p:cNvPr id="26" name="Text 24"/>
          <p:cNvSpPr/>
          <p:nvPr/>
        </p:nvSpPr>
        <p:spPr>
          <a:xfrm>
            <a:off x="15981641" y="5244465"/>
            <a:ext cx="1334810" cy="5438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7240"/>
              </a:lnSpc>
              <a:buNone/>
            </a:pPr>
            <a:r>
              <a:rPr lang="en-US" sz="25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0.958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1047750" y="6131243"/>
            <a:ext cx="2645438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LTR </a:t>
            </a:r>
            <a:r>
              <a:rPr lang="en-US" sz="180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turn removed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833694" y="6131243"/>
            <a:ext cx="5301222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LTR+M </a:t>
            </a:r>
            <a:r>
              <a:rPr lang="en-US" sz="180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trailing merchant confirmations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033986" y="6131243"/>
            <a:ext cx="2198573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FHO </a:t>
            </a:r>
            <a:r>
              <a:rPr lang="en-US" sz="180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half only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1413688" y="6131243"/>
            <a:ext cx="2651986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</a:t>
            </a:r>
            <a:r>
              <a:rPr lang="en-US" sz="180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pre-reversal only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047750" y="6866573"/>
            <a:ext cx="9614535" cy="1272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Removing the last turn barely hurts. Even the pre-reversal input scores 0.950: merchant concessions give the outcome away early.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11334750" y="7186613"/>
            <a:ext cx="2522065" cy="952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957"/>
              </a:lnSpc>
              <a:buNone/>
            </a:pPr>
            <a:r>
              <a:rPr lang="en-US" sz="7200" b="1" dirty="0">
                <a:solidFill>
                  <a:srgbClr val="AA0B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/ 20</a:t>
            </a:r>
            <a:endParaRPr lang="en-US" sz="7200" dirty="0"/>
          </a:p>
        </p:txBody>
      </p:sp>
      <p:sp>
        <p:nvSpPr>
          <p:cNvPr id="33" name="Text 31"/>
          <p:cNvSpPr/>
          <p:nvPr/>
        </p:nvSpPr>
        <p:spPr>
          <a:xfrm>
            <a:off x="13837087" y="7666673"/>
            <a:ext cx="2391882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stance-flip errors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1047750" y="9627870"/>
            <a:ext cx="7127713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is Antiphony actually using the trajectory? · Table 5.10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4931748" y="9627870"/>
            <a:ext cx="2539353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Antiphony · Group 10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047750" y="1097280"/>
            <a:ext cx="1519237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930"/>
              </a:lnSpc>
              <a:buNone/>
            </a:pPr>
            <a:r>
              <a:rPr lang="en-US" sz="4500" b="1" kern="0" spc="-67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Sufficiency Gap</a:t>
            </a:r>
            <a:endParaRPr lang="en-US" sz="4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750" y="2106930"/>
            <a:ext cx="16002000" cy="5143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7750" y="7631430"/>
            <a:ext cx="15697200" cy="9791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273"/>
              </a:lnSpc>
              <a:buNone/>
            </a:pPr>
            <a:r>
              <a:rPr lang="en-US" sz="2850" i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“When the ending stops giving the answer away, the last-turn model loses 0.05 and Antiphony holds. The gap is the trajectory.”</a:t>
            </a:r>
            <a:endParaRPr lang="en-US" sz="2850" dirty="0"/>
          </a:p>
        </p:txBody>
      </p:sp>
      <p:sp>
        <p:nvSpPr>
          <p:cNvPr id="6" name="Text 3"/>
          <p:cNvSpPr/>
          <p:nvPr/>
        </p:nvSpPr>
        <p:spPr>
          <a:xfrm>
            <a:off x="14931748" y="9627870"/>
            <a:ext cx="2539353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Antiphony · Group 10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047750" y="1097280"/>
            <a:ext cx="1519237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930"/>
              </a:lnSpc>
              <a:buNone/>
            </a:pPr>
            <a:r>
              <a:rPr lang="en-US" sz="4500" b="1" kern="0" spc="-67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Robustness and Forensics: Skew Stress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2202180"/>
            <a:ext cx="6165223" cy="1085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580"/>
              </a:lnSpc>
              <a:buNone/>
            </a:pPr>
            <a:r>
              <a:rPr lang="en-US" sz="825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0.933–0.973</a:t>
            </a:r>
            <a:endParaRPr lang="en-US" sz="8250" dirty="0"/>
          </a:p>
        </p:txBody>
      </p:sp>
      <p:sp>
        <p:nvSpPr>
          <p:cNvPr id="5" name="Text 3"/>
          <p:cNvSpPr/>
          <p:nvPr/>
        </p:nvSpPr>
        <p:spPr>
          <a:xfrm>
            <a:off x="1047750" y="3307080"/>
            <a:ext cx="6165223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174"/>
              </a:lnSpc>
              <a:buNone/>
            </a:pPr>
            <a:r>
              <a:rPr lang="en-US" sz="22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Macro-F1 range across the stress arms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7795498" y="2202180"/>
            <a:ext cx="7234714" cy="1085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580"/>
              </a:lnSpc>
              <a:buNone/>
            </a:pPr>
            <a:r>
              <a:rPr lang="en-US" sz="8250" b="1" dirty="0">
                <a:solidFill>
                  <a:srgbClr val="AA0B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47.7% → 9.8%</a:t>
            </a:r>
            <a:endParaRPr lang="en-US" sz="8250" dirty="0"/>
          </a:p>
        </p:txBody>
      </p:sp>
      <p:sp>
        <p:nvSpPr>
          <p:cNvPr id="7" name="Text 5"/>
          <p:cNvSpPr/>
          <p:nvPr/>
        </p:nvSpPr>
        <p:spPr>
          <a:xfrm>
            <a:off x="7795498" y="3307080"/>
            <a:ext cx="7234714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174"/>
              </a:lnSpc>
              <a:buNone/>
            </a:pPr>
            <a:r>
              <a:rPr lang="en-US" sz="22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 training examples</a:t>
            </a:r>
            <a:endParaRPr lang="en-US" sz="22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750" y="4321493"/>
            <a:ext cx="15621000" cy="31432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47750" y="8611553"/>
            <a:ext cx="1645444" cy="746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144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ARMS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3378994" y="7845743"/>
            <a:ext cx="2165961" cy="6877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203"/>
              </a:lnSpc>
              <a:buNone/>
            </a:pPr>
            <a:r>
              <a:rPr lang="en-US" sz="330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350</a:t>
            </a:r>
            <a:endParaRPr lang="en-US" sz="3300" dirty="0"/>
          </a:p>
        </p:txBody>
      </p:sp>
      <p:sp>
        <p:nvSpPr>
          <p:cNvPr id="11" name="Text 8"/>
          <p:cNvSpPr/>
          <p:nvPr/>
        </p:nvSpPr>
        <p:spPr>
          <a:xfrm>
            <a:off x="3378994" y="8552498"/>
            <a:ext cx="2045256" cy="805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6149"/>
              </a:lnSpc>
              <a:buNone/>
            </a:pPr>
            <a:r>
              <a:rPr lang="en-US" sz="195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set, 47.7% yes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6110050" y="7845743"/>
            <a:ext cx="1086326" cy="6877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203"/>
              </a:lnSpc>
              <a:buNone/>
            </a:pPr>
            <a:r>
              <a:rPr lang="en-US" sz="330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261</a:t>
            </a:r>
            <a:endParaRPr lang="en-US" sz="3300" dirty="0"/>
          </a:p>
        </p:txBody>
      </p:sp>
      <p:sp>
        <p:nvSpPr>
          <p:cNvPr id="13" name="Text 10"/>
          <p:cNvSpPr/>
          <p:nvPr/>
        </p:nvSpPr>
        <p:spPr>
          <a:xfrm>
            <a:off x="6110050" y="8552498"/>
            <a:ext cx="1086326" cy="805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6149"/>
              </a:lnSpc>
              <a:buNone/>
            </a:pPr>
            <a:r>
              <a:rPr lang="en-US" sz="195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set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7882176" y="7845743"/>
            <a:ext cx="1086326" cy="6877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203"/>
              </a:lnSpc>
              <a:buNone/>
            </a:pPr>
            <a:r>
              <a:rPr lang="en-US" sz="330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215</a:t>
            </a:r>
            <a:endParaRPr lang="en-US" sz="3300" dirty="0"/>
          </a:p>
        </p:txBody>
      </p:sp>
      <p:sp>
        <p:nvSpPr>
          <p:cNvPr id="15" name="Text 12"/>
          <p:cNvSpPr/>
          <p:nvPr/>
        </p:nvSpPr>
        <p:spPr>
          <a:xfrm>
            <a:off x="7882176" y="8552498"/>
            <a:ext cx="1086326" cy="805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6149"/>
              </a:lnSpc>
              <a:buNone/>
            </a:pPr>
            <a:r>
              <a:rPr lang="en-US" sz="195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set</a:t>
            </a:r>
            <a:endParaRPr lang="en-US" sz="1950" dirty="0"/>
          </a:p>
        </p:txBody>
      </p:sp>
      <p:sp>
        <p:nvSpPr>
          <p:cNvPr id="16" name="Text 13"/>
          <p:cNvSpPr/>
          <p:nvPr/>
        </p:nvSpPr>
        <p:spPr>
          <a:xfrm>
            <a:off x="9654302" y="7845743"/>
            <a:ext cx="2058043" cy="6877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203"/>
              </a:lnSpc>
              <a:buNone/>
            </a:pPr>
            <a:r>
              <a:rPr lang="en-US" sz="330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</a:t>
            </a:r>
            <a:endParaRPr lang="en-US" sz="3300" dirty="0"/>
          </a:p>
        </p:txBody>
      </p:sp>
      <p:sp>
        <p:nvSpPr>
          <p:cNvPr id="17" name="Text 14"/>
          <p:cNvSpPr/>
          <p:nvPr/>
        </p:nvSpPr>
        <p:spPr>
          <a:xfrm>
            <a:off x="9654302" y="8552498"/>
            <a:ext cx="1947148" cy="805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6149"/>
              </a:lnSpc>
              <a:buNone/>
            </a:pPr>
            <a:r>
              <a:rPr lang="en-US" sz="195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set, 9.8% yes</a:t>
            </a:r>
            <a:endParaRPr lang="en-US" sz="1950" dirty="0"/>
          </a:p>
        </p:txBody>
      </p:sp>
      <p:sp>
        <p:nvSpPr>
          <p:cNvPr id="18" name="Text 15"/>
          <p:cNvSpPr/>
          <p:nvPr/>
        </p:nvSpPr>
        <p:spPr>
          <a:xfrm>
            <a:off x="12287250" y="8651557"/>
            <a:ext cx="5101590" cy="706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581"/>
              </a:lnSpc>
              <a:buNone/>
            </a:pPr>
            <a:r>
              <a:rPr lang="en-US" sz="195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Protected (tuned threshold) and unprotected (0.50) arms both hold</a:t>
            </a:r>
            <a:endParaRPr lang="en-US" sz="1950" dirty="0"/>
          </a:p>
        </p:txBody>
      </p:sp>
      <p:sp>
        <p:nvSpPr>
          <p:cNvPr id="19" name="Text 16"/>
          <p:cNvSpPr/>
          <p:nvPr/>
        </p:nvSpPr>
        <p:spPr>
          <a:xfrm>
            <a:off x="14931748" y="9627870"/>
            <a:ext cx="2539353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Antiphony · Group 10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047750" y="1097280"/>
            <a:ext cx="1519237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930"/>
              </a:lnSpc>
              <a:buNone/>
            </a:pPr>
            <a:r>
              <a:rPr lang="en-US" sz="4500" b="1" kern="0" spc="-67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Robustness and Forensics: Tokenizer Truncation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2202180"/>
            <a:ext cx="5448300" cy="1085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580"/>
              </a:lnSpc>
              <a:buNone/>
            </a:pPr>
            <a:r>
              <a:rPr lang="en-US" sz="8250" b="1" dirty="0">
                <a:solidFill>
                  <a:srgbClr val="AA0B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30.4%</a:t>
            </a:r>
            <a:endParaRPr lang="en-US" sz="8250" dirty="0"/>
          </a:p>
        </p:txBody>
      </p:sp>
      <p:sp>
        <p:nvSpPr>
          <p:cNvPr id="5" name="Text 3"/>
          <p:cNvSpPr/>
          <p:nvPr/>
        </p:nvSpPr>
        <p:spPr>
          <a:xfrm>
            <a:off x="1047750" y="3307080"/>
            <a:ext cx="5101590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21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dialogues (152 of 500) lost their endings to default right-truncation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47750" y="4351020"/>
            <a:ext cx="5448300" cy="8001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957"/>
              </a:lnSpc>
              <a:buNone/>
            </a:pPr>
            <a:r>
              <a:rPr lang="en-US" sz="600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0.813 → 0.933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1047750" y="5170170"/>
            <a:ext cx="5101590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21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switching to left-truncation (+0.12)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47750" y="6214110"/>
            <a:ext cx="510159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733"/>
              </a:lnSpc>
              <a:buNone/>
            </a:pPr>
            <a:r>
              <a:rPr lang="en-US" sz="2250" i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“Our biggest ‘gap’ at one point was a tokenizer default, not the model.”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6953250" y="2297430"/>
            <a:ext cx="1131570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Macro-F1, canonical benchmark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953250" y="2937510"/>
            <a:ext cx="11315700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model (DeBERTa-v3, dual-stream)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6953250" y="3449479"/>
            <a:ext cx="8343900" cy="457200"/>
          </a:xfrm>
          <a:prstGeom prst="rect">
            <a:avLst/>
          </a:prstGeom>
          <a:solidFill>
            <a:srgbClr val="A3A3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5487650" y="3427095"/>
            <a:ext cx="1061442" cy="540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240"/>
              </a:lnSpc>
              <a:buNone/>
            </a:pPr>
            <a:r>
              <a:rPr lang="en-US" sz="255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0.9733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6953250" y="4214813"/>
            <a:ext cx="11315700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turn removed · left-truncation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6953250" y="4726781"/>
            <a:ext cx="8001000" cy="457200"/>
          </a:xfrm>
          <a:prstGeom prst="rect">
            <a:avLst/>
          </a:prstGeom>
          <a:solidFill>
            <a:srgbClr val="2929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5144750" y="4704397"/>
            <a:ext cx="1061442" cy="540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240"/>
              </a:lnSpc>
              <a:buNone/>
            </a:pPr>
            <a:r>
              <a:rPr lang="en-US" sz="255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0.9331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6953250" y="5492115"/>
            <a:ext cx="11315700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turn removed · right-truncation (default)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6953250" y="6004084"/>
            <a:ext cx="6972300" cy="457200"/>
          </a:xfrm>
          <a:prstGeom prst="rect">
            <a:avLst/>
          </a:prstGeom>
          <a:solidFill>
            <a:srgbClr val="AA0B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4116050" y="5981700"/>
            <a:ext cx="1061442" cy="540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240"/>
              </a:lnSpc>
              <a:buNone/>
            </a:pPr>
            <a:r>
              <a:rPr lang="en-US" sz="255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0.8133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6953250" y="6769418"/>
            <a:ext cx="11315700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half only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6953250" y="7281386"/>
            <a:ext cx="6610350" cy="457200"/>
          </a:xfrm>
          <a:prstGeom prst="rect">
            <a:avLst/>
          </a:prstGeom>
          <a:solidFill>
            <a:srgbClr val="CCC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3754100" y="7259003"/>
            <a:ext cx="1061442" cy="540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240"/>
              </a:lnSpc>
              <a:buNone/>
            </a:pPr>
            <a:r>
              <a:rPr lang="en-US" sz="255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0.7707</a:t>
            </a:r>
            <a:endParaRPr lang="en-US" sz="2550" dirty="0"/>
          </a:p>
        </p:txBody>
      </p:sp>
      <p:sp>
        <p:nvSpPr>
          <p:cNvPr id="22" name="Text 20"/>
          <p:cNvSpPr/>
          <p:nvPr/>
        </p:nvSpPr>
        <p:spPr>
          <a:xfrm>
            <a:off x="6953250" y="8046720"/>
            <a:ext cx="11315700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149"/>
              </a:lnSpc>
              <a:buNone/>
            </a:pPr>
            <a:r>
              <a:rPr lang="en-US" sz="195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Apparent necessity gap: 0.1600 → 0.0402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4931748" y="9627870"/>
            <a:ext cx="2539353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Antiphony · Group 10</a:t>
            </a:r>
            <a:endParaRPr lang="en-US" sz="1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047750" y="1097280"/>
            <a:ext cx="1519237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930"/>
              </a:lnSpc>
              <a:buNone/>
            </a:pPr>
            <a:r>
              <a:rPr lang="en-US" sz="4500" b="1" kern="0" spc="-67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Havn Demo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1973580"/>
            <a:ext cx="17811750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i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“Observer only. It reads the chat, scores intent turn by turn, and tags strategies. It never replies.”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47750" y="2766060"/>
            <a:ext cx="5143500" cy="4476750"/>
          </a:xfrm>
          <a:prstGeom prst="roundRect">
            <a:avLst>
              <a:gd name="adj" fmla="val 851"/>
            </a:avLst>
          </a:prstGeom>
          <a:solidFill>
            <a:srgbClr val="FFFFFF"/>
          </a:solidFill>
          <a:ln/>
          <a:effectLst>
            <a:outerShdw blurRad="133350" dist="28575" dir="5400000" algn="bl" rotWithShape="0">
              <a:srgbClr val="292966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47750" y="2766060"/>
            <a:ext cx="5143500" cy="4476750"/>
          </a:xfrm>
          <a:prstGeom prst="rect">
            <a:avLst/>
          </a:prstGeom>
          <a:solidFill>
            <a:srgbClr val="7F7F7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14096" r="14096"/>
          <a:stretch/>
        </p:blipFill>
        <p:spPr>
          <a:xfrm>
            <a:off x="1047750" y="2766060"/>
            <a:ext cx="5143500" cy="44767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47750" y="7376160"/>
            <a:ext cx="1355003" cy="647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957"/>
              </a:lnSpc>
              <a:buNone/>
            </a:pPr>
            <a:r>
              <a:rPr lang="en-US" sz="480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97%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2451021" y="7635240"/>
            <a:ext cx="3852436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21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Buyer–seller intent, rising per turn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6572250" y="2766060"/>
            <a:ext cx="5143500" cy="4476750"/>
          </a:xfrm>
          <a:prstGeom prst="roundRect">
            <a:avLst>
              <a:gd name="adj" fmla="val 851"/>
            </a:avLst>
          </a:prstGeom>
          <a:solidFill>
            <a:srgbClr val="FFFFFF"/>
          </a:solidFill>
          <a:ln/>
          <a:effectLst>
            <a:outerShdw blurRad="133350" dist="28575" dir="5400000" algn="bl" rotWithShape="0">
              <a:srgbClr val="292966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572250" y="2766060"/>
            <a:ext cx="5143500" cy="4476750"/>
          </a:xfrm>
          <a:prstGeom prst="rect">
            <a:avLst/>
          </a:prstGeom>
          <a:solidFill>
            <a:srgbClr val="7F7F7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l="14096" r="14096"/>
          <a:stretch/>
        </p:blipFill>
        <p:spPr>
          <a:xfrm>
            <a:off x="6572250" y="2766060"/>
            <a:ext cx="5143500" cy="44767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72250" y="7376160"/>
            <a:ext cx="1379887" cy="647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957"/>
              </a:lnSpc>
              <a:buNone/>
            </a:pPr>
            <a:r>
              <a:rPr lang="en-US" sz="480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</a:t>
            </a:r>
            <a:endParaRPr lang="en-US" sz="4800" dirty="0"/>
          </a:p>
        </p:txBody>
      </p:sp>
      <p:sp>
        <p:nvSpPr>
          <p:cNvPr id="14" name="Text 10"/>
          <p:cNvSpPr/>
          <p:nvPr/>
        </p:nvSpPr>
        <p:spPr>
          <a:xfrm>
            <a:off x="7998143" y="7635240"/>
            <a:ext cx="3829136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21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Donation intent falls after a stance reversal</a:t>
            </a:r>
            <a:endParaRPr lang="en-US" sz="2100" dirty="0"/>
          </a:p>
        </p:txBody>
      </p:sp>
      <p:sp>
        <p:nvSpPr>
          <p:cNvPr id="15" name="Shape 11"/>
          <p:cNvSpPr/>
          <p:nvPr/>
        </p:nvSpPr>
        <p:spPr>
          <a:xfrm>
            <a:off x="12096750" y="2766060"/>
            <a:ext cx="5143500" cy="4476750"/>
          </a:xfrm>
          <a:prstGeom prst="roundRect">
            <a:avLst>
              <a:gd name="adj" fmla="val 851"/>
            </a:avLst>
          </a:prstGeom>
          <a:solidFill>
            <a:srgbClr val="FFFFFF"/>
          </a:solidFill>
          <a:ln/>
          <a:effectLst>
            <a:outerShdw blurRad="133350" dist="28575" dir="5400000" algn="bl" rotWithShape="0">
              <a:srgbClr val="292966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12096750" y="2766060"/>
            <a:ext cx="5143500" cy="4476750"/>
          </a:xfrm>
          <a:prstGeom prst="rect">
            <a:avLst/>
          </a:prstGeom>
          <a:solidFill>
            <a:srgbClr val="7F7F7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 t="29893" b="29893"/>
          <a:stretch/>
        </p:blipFill>
        <p:spPr>
          <a:xfrm>
            <a:off x="12096750" y="2766060"/>
            <a:ext cx="5143500" cy="447675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096750" y="7376160"/>
            <a:ext cx="1701022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210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view</a:t>
            </a:r>
            <a:endParaRPr lang="en-US" sz="2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C1C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5C5C99">
                  <a:alpha val="55000"/>
                </a:srgbClr>
              </a:gs>
              <a:gs pos="70000">
                <a:srgbClr val="5C5C99">
                  <a:alpha val="0"/>
                </a:srgbClr>
              </a:gs>
            </a:gsLst>
            <a:path path="circle">
              <a:fillToRect l="88000" t="12000" r="12000" b="88000"/>
            </a:path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47750" y="3021806"/>
            <a:ext cx="533400" cy="28575"/>
          </a:xfrm>
          <a:prstGeom prst="rect">
            <a:avLst/>
          </a:prstGeom>
          <a:solidFill>
            <a:srgbClr val="CCC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752600" y="2844165"/>
            <a:ext cx="1889224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149"/>
              </a:lnSpc>
              <a:buNone/>
            </a:pPr>
            <a:r>
              <a:rPr lang="en-US" sz="1950" kern="0" spc="234" dirty="0">
                <a:solidFill>
                  <a:srgbClr val="CC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5 OF 5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047750" y="3551872"/>
            <a:ext cx="12363450" cy="1257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957"/>
              </a:lnSpc>
              <a:buNone/>
            </a:pPr>
            <a:r>
              <a:rPr lang="en-US" sz="9600" b="1" kern="0" spc="-19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</a:t>
            </a:r>
            <a:endParaRPr lang="en-US" sz="9600" dirty="0"/>
          </a:p>
        </p:txBody>
      </p:sp>
      <p:sp>
        <p:nvSpPr>
          <p:cNvPr id="6" name="Shape 4"/>
          <p:cNvSpPr/>
          <p:nvPr/>
        </p:nvSpPr>
        <p:spPr>
          <a:xfrm>
            <a:off x="1047750" y="6073140"/>
            <a:ext cx="8572500" cy="9525"/>
          </a:xfrm>
          <a:prstGeom prst="rect">
            <a:avLst/>
          </a:prstGeom>
          <a:solidFill>
            <a:srgbClr val="CCCCFF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47750" y="5498782"/>
            <a:ext cx="685800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A3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885950" y="5437823"/>
            <a:ext cx="2853809" cy="540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24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learned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1047750" y="6849428"/>
            <a:ext cx="8572500" cy="9525"/>
          </a:xfrm>
          <a:prstGeom prst="rect">
            <a:avLst/>
          </a:prstGeom>
          <a:solidFill>
            <a:srgbClr val="CCCCFF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47750" y="6275070"/>
            <a:ext cx="685800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A3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885950" y="6214110"/>
            <a:ext cx="4724436" cy="540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24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and future work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1047750" y="7625715"/>
            <a:ext cx="8572500" cy="9525"/>
          </a:xfrm>
          <a:prstGeom prst="rect">
            <a:avLst/>
          </a:prstGeom>
          <a:solidFill>
            <a:srgbClr val="CCCCFF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47750" y="7051357"/>
            <a:ext cx="685800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A3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885950" y="6990398"/>
            <a:ext cx="1684651" cy="540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24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</a:t>
            </a:r>
            <a:endParaRPr lang="en-US" sz="255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049250" y="933450"/>
            <a:ext cx="4000500" cy="86106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5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047750" y="1097280"/>
            <a:ext cx="1519237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930"/>
              </a:lnSpc>
              <a:buNone/>
            </a:pPr>
            <a:r>
              <a:rPr lang="en-US" sz="4500" b="1" kern="0" spc="-67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Learned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3573780"/>
            <a:ext cx="16192500" cy="9525"/>
          </a:xfrm>
          <a:prstGeom prst="rect">
            <a:avLst/>
          </a:prstGeom>
          <a:solidFill>
            <a:srgbClr val="A3A3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47750" y="2400300"/>
            <a:ext cx="838200" cy="5695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135"/>
              </a:lnSpc>
              <a:buNone/>
            </a:pPr>
            <a:r>
              <a:rPr lang="en-US" sz="270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2095500" y="2354580"/>
            <a:ext cx="649605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621"/>
              </a:lnSpc>
              <a:buNone/>
            </a:pPr>
            <a:r>
              <a:rPr lang="en-US" sz="300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Modifier head dropped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86750" y="2461260"/>
            <a:ext cx="984885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174"/>
              </a:lnSpc>
              <a:buNone/>
            </a:pPr>
            <a:r>
              <a:rPr lang="en-US" sz="22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of data sparsity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8286750" y="2942272"/>
            <a:ext cx="9848850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149"/>
              </a:lnSpc>
              <a:buNone/>
            </a:pPr>
            <a:r>
              <a:rPr lang="en-US" sz="195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training examples for conditional; it never broke 0.45 F1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1047750" y="5048250"/>
            <a:ext cx="16192500" cy="9525"/>
          </a:xfrm>
          <a:prstGeom prst="rect">
            <a:avLst/>
          </a:prstGeom>
          <a:solidFill>
            <a:srgbClr val="A3A3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47750" y="3874770"/>
            <a:ext cx="838200" cy="5695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135"/>
              </a:lnSpc>
              <a:buNone/>
            </a:pPr>
            <a:r>
              <a:rPr lang="en-US" sz="270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2095500" y="3829050"/>
            <a:ext cx="649605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621"/>
              </a:lnSpc>
              <a:buNone/>
            </a:pPr>
            <a:r>
              <a:rPr lang="en-US" sz="300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Categories over strategies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286750" y="3935730"/>
            <a:ext cx="984885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174"/>
              </a:lnSpc>
              <a:buNone/>
            </a:pPr>
            <a:r>
              <a:rPr lang="en-US" sz="22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of the long tail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8286750" y="4416743"/>
            <a:ext cx="9848850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149"/>
              </a:lnSpc>
              <a:buNone/>
            </a:pPr>
            <a:r>
              <a:rPr lang="en-US" sz="195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0.368 macro-F1 on 41 strategies; categories reached 0.556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047750" y="6522720"/>
            <a:ext cx="16192500" cy="9525"/>
          </a:xfrm>
          <a:prstGeom prst="rect">
            <a:avLst/>
          </a:prstGeom>
          <a:solidFill>
            <a:srgbClr val="A3A3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47750" y="5349240"/>
            <a:ext cx="838200" cy="5695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135"/>
              </a:lnSpc>
              <a:buNone/>
            </a:pPr>
            <a:r>
              <a:rPr lang="en-US" sz="270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2095500" y="5303520"/>
            <a:ext cx="649605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621"/>
              </a:lnSpc>
              <a:buNone/>
            </a:pPr>
            <a:r>
              <a:rPr lang="en-US" sz="300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stacker rejected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286750" y="5410200"/>
            <a:ext cx="984885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174"/>
              </a:lnSpc>
              <a:buNone/>
            </a:pPr>
            <a:r>
              <a:rPr lang="en-US" sz="22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favour of the calibrated blend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8286750" y="5891213"/>
            <a:ext cx="9848850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149"/>
              </a:lnSpc>
              <a:buNone/>
            </a:pPr>
            <a:r>
              <a:rPr lang="en-US" sz="195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0.5508 against 0.5716 validation macro-F1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1047750" y="7997190"/>
            <a:ext cx="16192500" cy="9525"/>
          </a:xfrm>
          <a:prstGeom prst="rect">
            <a:avLst/>
          </a:prstGeom>
          <a:solidFill>
            <a:srgbClr val="A3A3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47750" y="6823710"/>
            <a:ext cx="838200" cy="5695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135"/>
              </a:lnSpc>
              <a:buNone/>
            </a:pPr>
            <a:r>
              <a:rPr lang="en-US" sz="270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2095500" y="6777990"/>
            <a:ext cx="649605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621"/>
              </a:lnSpc>
              <a:buNone/>
            </a:pPr>
            <a:r>
              <a:rPr lang="en-US" sz="300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Right-truncation replaced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8286750" y="6884670"/>
            <a:ext cx="984885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174"/>
              </a:lnSpc>
              <a:buNone/>
            </a:pPr>
            <a:r>
              <a:rPr lang="en-US" sz="22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left-truncation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8286750" y="7365682"/>
            <a:ext cx="9848850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149"/>
              </a:lnSpc>
              <a:buNone/>
            </a:pPr>
            <a:r>
              <a:rPr lang="en-US" sz="195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30.4% of endings lost; necessity gap 0.1600 → 0.0402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047750" y="8481060"/>
            <a:ext cx="17811750" cy="599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864"/>
              </a:lnSpc>
              <a:buNone/>
            </a:pPr>
            <a:r>
              <a:rPr lang="en-US" sz="2850" i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“Each negative result is documented, not hidden.”</a:t>
            </a:r>
            <a:endParaRPr lang="en-US" sz="28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5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047750" y="1097280"/>
            <a:ext cx="1519237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930"/>
              </a:lnSpc>
              <a:buNone/>
            </a:pPr>
            <a:r>
              <a:rPr lang="en-US" sz="4500" b="1" kern="0" spc="-67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and Future Work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2259330"/>
            <a:ext cx="5378363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144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2899410"/>
            <a:ext cx="5378363" cy="723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379"/>
              </a:lnSpc>
              <a:buNone/>
            </a:pPr>
            <a:r>
              <a:rPr lang="en-US" sz="540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0.862 / 0.845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047750" y="3623310"/>
            <a:ext cx="5378363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149"/>
              </a:lnSpc>
              <a:buNone/>
            </a:pPr>
            <a:r>
              <a:rPr lang="en-US" sz="195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intention Macro-F1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047750" y="4292918"/>
            <a:ext cx="5378363" cy="723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379"/>
              </a:lnSpc>
              <a:buNone/>
            </a:pPr>
            <a:r>
              <a:rPr lang="en-US" sz="5400" b="1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0.706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047750" y="5016818"/>
            <a:ext cx="5378363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149"/>
              </a:lnSpc>
              <a:buNone/>
            </a:pPr>
            <a:r>
              <a:rPr lang="en-US" sz="195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micro-F1, 89% of ceiling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047750" y="5686425"/>
            <a:ext cx="5378363" cy="723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379"/>
              </a:lnSpc>
              <a:buNone/>
            </a:pPr>
            <a:r>
              <a:rPr lang="en-US" sz="5400" b="1" dirty="0">
                <a:solidFill>
                  <a:srgbClr val="AA0B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+0.0384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1047750" y="6410325"/>
            <a:ext cx="5378363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149"/>
              </a:lnSpc>
              <a:buNone/>
            </a:pPr>
            <a:r>
              <a:rPr lang="en-US" sz="1950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sufficiency gap on reversals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6699171" y="2259330"/>
            <a:ext cx="5378494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144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99171" y="2823210"/>
            <a:ext cx="5378494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733"/>
              </a:lnSpc>
              <a:buNone/>
            </a:pPr>
            <a:r>
              <a:rPr lang="en-US" sz="22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153 test dialogues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6699171" y="3418522"/>
            <a:ext cx="5378494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733"/>
              </a:lnSpc>
              <a:buNone/>
            </a:pPr>
            <a:r>
              <a:rPr lang="en-US" sz="22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seed and split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6699171" y="4013835"/>
            <a:ext cx="5378494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733"/>
              </a:lnSpc>
              <a:buNone/>
            </a:pPr>
            <a:r>
              <a:rPr lang="en-US" sz="22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only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6699171" y="4609147"/>
            <a:ext cx="5036226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733"/>
              </a:lnSpc>
              <a:buNone/>
            </a:pPr>
            <a:r>
              <a:rPr lang="en-US" sz="22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negotiation benchmark is synthetic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2350710" y="2259330"/>
            <a:ext cx="5378494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144" dirty="0">
                <a:solidFill>
                  <a:srgbClr val="5C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350710" y="2823210"/>
            <a:ext cx="5378494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733"/>
              </a:lnSpc>
              <a:buNone/>
            </a:pPr>
            <a:r>
              <a:rPr lang="en-US" sz="22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Bengali / Banglish with BanglaBERT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2350710" y="3418522"/>
            <a:ext cx="5036226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733"/>
              </a:lnSpc>
              <a:buNone/>
            </a:pPr>
            <a:r>
              <a:rPr lang="en-US" sz="22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Early-warning signal from the GRU state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2350710" y="4399597"/>
            <a:ext cx="5378494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733"/>
              </a:lnSpc>
              <a:buNone/>
            </a:pPr>
            <a:r>
              <a:rPr lang="en-US" sz="22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Multi-seed significance tests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2350710" y="4994910"/>
            <a:ext cx="5036226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733"/>
              </a:lnSpc>
              <a:buNone/>
            </a:pPr>
            <a:r>
              <a:rPr lang="en-US" sz="2250" dirty="0">
                <a:solidFill>
                  <a:srgbClr val="292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Back-translation on the persuader side only</a:t>
            </a:r>
            <a:endParaRPr lang="en-US" sz="22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C1C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5C5C99">
                  <a:alpha val="55000"/>
                </a:srgbClr>
              </a:gs>
              <a:gs pos="70000">
                <a:srgbClr val="5C5C99">
                  <a:alpha val="0"/>
                </a:srgbClr>
              </a:gs>
            </a:gsLst>
            <a:path path="circle">
              <a:fillToRect l="88000" t="12000" r="12000" b="88000"/>
            </a:path>
          </a:gra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800100"/>
            <a:ext cx="800100" cy="7933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57400" y="1004768"/>
            <a:ext cx="5338286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149"/>
              </a:lnSpc>
              <a:buNone/>
            </a:pPr>
            <a:r>
              <a:rPr lang="en-US" sz="1950" kern="0" spc="234" dirty="0">
                <a:solidFill>
                  <a:srgbClr val="CC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ANTIPHONY · CSE 450 · GROUP 10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1047750" y="2641163"/>
            <a:ext cx="10058400" cy="1666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2529"/>
              </a:lnSpc>
              <a:buNone/>
            </a:pPr>
            <a:r>
              <a:rPr lang="en-US" sz="13500" b="1" kern="0" spc="-27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3500" dirty="0"/>
          </a:p>
        </p:txBody>
      </p:sp>
      <p:sp>
        <p:nvSpPr>
          <p:cNvPr id="6" name="Text 3"/>
          <p:cNvSpPr/>
          <p:nvPr/>
        </p:nvSpPr>
        <p:spPr>
          <a:xfrm>
            <a:off x="1047750" y="4536638"/>
            <a:ext cx="10058400" cy="746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3600" i="1" dirty="0">
                <a:solidFill>
                  <a:srgbClr val="CC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and discussion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1047750" y="8245793"/>
            <a:ext cx="22860" cy="1279208"/>
          </a:xfrm>
          <a:prstGeom prst="rect">
            <a:avLst/>
          </a:prstGeom>
          <a:solidFill>
            <a:srgbClr val="CCC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299210" y="8245793"/>
            <a:ext cx="2483430" cy="838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500"/>
              </a:lnSpc>
              <a:buNone/>
            </a:pPr>
            <a:r>
              <a:rPr lang="en-US" sz="6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0.862</a:t>
            </a:r>
            <a:endParaRPr lang="en-US" sz="6300" dirty="0"/>
          </a:p>
        </p:txBody>
      </p:sp>
      <p:sp>
        <p:nvSpPr>
          <p:cNvPr id="9" name="Text 6"/>
          <p:cNvSpPr/>
          <p:nvPr/>
        </p:nvSpPr>
        <p:spPr>
          <a:xfrm>
            <a:off x="1299210" y="9141143"/>
            <a:ext cx="2483430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149"/>
              </a:lnSpc>
              <a:buNone/>
            </a:pPr>
            <a:r>
              <a:rPr lang="en-US" sz="1950" dirty="0">
                <a:solidFill>
                  <a:srgbClr val="A3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intention Macro-F1</a:t>
            </a:r>
            <a:endParaRPr lang="en-US" sz="1950" dirty="0"/>
          </a:p>
        </p:txBody>
      </p:sp>
      <p:sp>
        <p:nvSpPr>
          <p:cNvPr id="10" name="Shape 7"/>
          <p:cNvSpPr/>
          <p:nvPr/>
        </p:nvSpPr>
        <p:spPr>
          <a:xfrm>
            <a:off x="4128373" y="8245793"/>
            <a:ext cx="22860" cy="1279208"/>
          </a:xfrm>
          <a:prstGeom prst="rect">
            <a:avLst/>
          </a:prstGeom>
          <a:solidFill>
            <a:srgbClr val="A3A3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379833" y="8245793"/>
            <a:ext cx="2286453" cy="838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500"/>
              </a:lnSpc>
              <a:buNone/>
            </a:pPr>
            <a:r>
              <a:rPr lang="en-US" sz="6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0.706</a:t>
            </a:r>
            <a:endParaRPr lang="en-US" sz="6300" dirty="0"/>
          </a:p>
        </p:txBody>
      </p:sp>
      <p:sp>
        <p:nvSpPr>
          <p:cNvPr id="12" name="Text 9"/>
          <p:cNvSpPr/>
          <p:nvPr/>
        </p:nvSpPr>
        <p:spPr>
          <a:xfrm>
            <a:off x="4379833" y="9141143"/>
            <a:ext cx="2286453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149"/>
              </a:lnSpc>
              <a:buNone/>
            </a:pPr>
            <a:r>
              <a:rPr lang="en-US" sz="1950" dirty="0">
                <a:solidFill>
                  <a:srgbClr val="A3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micro-F1</a:t>
            </a:r>
            <a:endParaRPr lang="en-US" sz="1950" dirty="0"/>
          </a:p>
        </p:txBody>
      </p:sp>
      <p:sp>
        <p:nvSpPr>
          <p:cNvPr id="13" name="Shape 10"/>
          <p:cNvSpPr/>
          <p:nvPr/>
        </p:nvSpPr>
        <p:spPr>
          <a:xfrm>
            <a:off x="7029926" y="8245793"/>
            <a:ext cx="22860" cy="1279208"/>
          </a:xfrm>
          <a:prstGeom prst="rect">
            <a:avLst/>
          </a:prstGeom>
          <a:solidFill>
            <a:srgbClr val="FF90B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281386" y="8245793"/>
            <a:ext cx="3156478" cy="838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500"/>
              </a:lnSpc>
              <a:buNone/>
            </a:pPr>
            <a:r>
              <a:rPr lang="en-US" sz="6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+0.0384</a:t>
            </a:r>
            <a:endParaRPr lang="en-US" sz="6300" dirty="0"/>
          </a:p>
        </p:txBody>
      </p:sp>
      <p:sp>
        <p:nvSpPr>
          <p:cNvPr id="15" name="Text 12"/>
          <p:cNvSpPr/>
          <p:nvPr/>
        </p:nvSpPr>
        <p:spPr>
          <a:xfrm>
            <a:off x="7281386" y="9141143"/>
            <a:ext cx="3156478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149"/>
              </a:lnSpc>
              <a:buNone/>
            </a:pPr>
            <a:r>
              <a:rPr lang="en-US" sz="1950" dirty="0">
                <a:solidFill>
                  <a:srgbClr val="A3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sufficiency gap</a:t>
            </a:r>
            <a:endParaRPr lang="en-US" sz="1950" dirty="0"/>
          </a:p>
        </p:txBody>
      </p:sp>
      <p:sp>
        <p:nvSpPr>
          <p:cNvPr id="16" name="Text 13"/>
          <p:cNvSpPr/>
          <p:nvPr/>
        </p:nvSpPr>
        <p:spPr>
          <a:xfrm>
            <a:off x="11144250" y="1922621"/>
            <a:ext cx="6705600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149"/>
              </a:lnSpc>
              <a:buNone/>
            </a:pPr>
            <a:r>
              <a:rPr lang="en-US" sz="1950" kern="0" spc="234" dirty="0">
                <a:solidFill>
                  <a:srgbClr val="A3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FOR THE LIVE DEMOS</a:t>
            </a:r>
            <a:endParaRPr lang="en-US" sz="1950" dirty="0"/>
          </a:p>
        </p:txBody>
      </p:sp>
      <p:sp>
        <p:nvSpPr>
          <p:cNvPr id="17" name="Shape 14"/>
          <p:cNvSpPr/>
          <p:nvPr/>
        </p:nvSpPr>
        <p:spPr>
          <a:xfrm>
            <a:off x="11144250" y="2973229"/>
            <a:ext cx="2381250" cy="238125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/>
          <a:effectLst>
            <a:outerShdw blurRad="101600" dist="50800" dir="16200000" algn="bl" rotWithShape="0">
              <a:srgbClr val="CCCCFF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96650" y="3125629"/>
            <a:ext cx="2076450" cy="207645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3906500" y="3444716"/>
            <a:ext cx="3667125" cy="6877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203"/>
              </a:lnSpc>
              <a:buNone/>
            </a:pPr>
            <a:r>
              <a:rPr lang="en-US" sz="3300" b="1" dirty="0">
                <a:solidFill>
                  <a:srgbClr val="CC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Persuasion</a:t>
            </a:r>
            <a:endParaRPr lang="en-US" sz="3300" dirty="0"/>
          </a:p>
        </p:txBody>
      </p:sp>
      <p:sp>
        <p:nvSpPr>
          <p:cNvPr id="20" name="Text 16"/>
          <p:cNvSpPr/>
          <p:nvPr/>
        </p:nvSpPr>
        <p:spPr>
          <a:xfrm>
            <a:off x="13906500" y="4189571"/>
            <a:ext cx="3433763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2100" dirty="0">
                <a:solidFill>
                  <a:srgbClr val="A3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Donation intent &amp; strategy</a:t>
            </a:r>
            <a:endParaRPr lang="en-US" sz="2100" dirty="0"/>
          </a:p>
        </p:txBody>
      </p:sp>
      <p:sp>
        <p:nvSpPr>
          <p:cNvPr id="21" name="Shape 17"/>
          <p:cNvSpPr/>
          <p:nvPr/>
        </p:nvSpPr>
        <p:spPr>
          <a:xfrm>
            <a:off x="11144250" y="6021229"/>
            <a:ext cx="2381250" cy="238125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/>
          <a:effectLst>
            <a:outerShdw blurRad="101600" dist="50800" dir="16200000" algn="bl" rotWithShape="0">
              <a:srgbClr val="CCCCFF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96650" y="6173629"/>
            <a:ext cx="2076450" cy="207645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3906500" y="6666072"/>
            <a:ext cx="2832068" cy="6877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203"/>
              </a:lnSpc>
              <a:buNone/>
            </a:pPr>
            <a:r>
              <a:rPr lang="en-US" sz="3300" b="1" dirty="0">
                <a:solidFill>
                  <a:srgbClr val="CC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Buyer–Seller</a:t>
            </a:r>
            <a:endParaRPr lang="en-US" sz="3300" dirty="0"/>
          </a:p>
        </p:txBody>
      </p:sp>
      <p:sp>
        <p:nvSpPr>
          <p:cNvPr id="24" name="Text 19"/>
          <p:cNvSpPr/>
          <p:nvPr/>
        </p:nvSpPr>
        <p:spPr>
          <a:xfrm>
            <a:off x="13906500" y="7410926"/>
            <a:ext cx="2832068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2100" dirty="0">
                <a:solidFill>
                  <a:srgbClr val="A3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Negotiation intent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3695</Words>
  <Application>Microsoft Office PowerPoint</Application>
  <PresentationFormat>Custom</PresentationFormat>
  <Paragraphs>742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2105033 - Abhishek Roy</cp:lastModifiedBy>
  <cp:revision>2</cp:revision>
  <dcterms:created xsi:type="dcterms:W3CDTF">2026-09-29T17:18:38Z</dcterms:created>
  <dcterms:modified xsi:type="dcterms:W3CDTF">2026-09-29T17:35:35Z</dcterms:modified>
</cp:coreProperties>
</file>